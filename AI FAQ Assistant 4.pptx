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8" r:id="rId8"/>
    <p:sldId id="264" r:id="rId9"/>
    <p:sldId id="263" r:id="rId10"/>
    <p:sldId id="265" r:id="rId11"/>
    <p:sldId id="262" r:id="rId12"/>
    <p:sldId id="266" r:id="rId13"/>
    <p:sldId id="267" r:id="rId14"/>
    <p:sldId id="269" r:id="rId15"/>
    <p:sldId id="270" r:id="rId16"/>
    <p:sldId id="271" r:id="rId17"/>
    <p:sldId id="272" r:id="rId18"/>
    <p:sldId id="273" r:id="rId19"/>
    <p:sldId id="275" r:id="rId20"/>
    <p:sldId id="274"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86" dt="2026-09-30T05:50:16.905"/>
    <p1510:client id="{E0B3AE86-16EA-8367-4B39-E0DF9C9C0C45}" v="92" dt="2026-09-28T06:23:43.3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724" y="-68"/>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A7FD46-2C93-F50D-0DB9-8A19D21A64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DB0D2769-F1BD-0D5E-6521-6584E6D52F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219C1BCB-A7FF-6653-817E-0603A8B817C6}"/>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5" name="Footer Placeholder 4">
            <a:extLst>
              <a:ext uri="{FF2B5EF4-FFF2-40B4-BE49-F238E27FC236}">
                <a16:creationId xmlns="" xmlns:a16="http://schemas.microsoft.com/office/drawing/2014/main" id="{FCC957C9-1091-51DE-7C82-23CE10B173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070FF9BE-35B6-DA5C-104A-AEDA5E89FC4E}"/>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2769292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B308183-94C2-E5EF-BD9B-676BEC619B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D16FD77A-2131-65FD-2524-7EAA820E55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DFF1400-4D97-4947-2DE6-90C3E743E476}"/>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5" name="Footer Placeholder 4">
            <a:extLst>
              <a:ext uri="{FF2B5EF4-FFF2-40B4-BE49-F238E27FC236}">
                <a16:creationId xmlns="" xmlns:a16="http://schemas.microsoft.com/office/drawing/2014/main" id="{4CA2AEDB-EE9F-3CE8-11F3-0BD10633C1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0D3EEEE-5F95-E4E5-D4EA-2E1A302EDA00}"/>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104100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7B918D-BF0D-8EC2-00B7-C6453AD71E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7F2A1E35-E7AA-3B33-7CFB-2135A23EEC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02AD98F3-9982-23F8-AF38-A57A2F04B2E6}"/>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5" name="Footer Placeholder 4">
            <a:extLst>
              <a:ext uri="{FF2B5EF4-FFF2-40B4-BE49-F238E27FC236}">
                <a16:creationId xmlns="" xmlns:a16="http://schemas.microsoft.com/office/drawing/2014/main" id="{46BDA64C-8492-1360-CD94-755CB4010A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7A4D253-4066-5124-04E2-7B9853C4DF0A}"/>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3791887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455C52-EAA4-BBB2-42AC-B11B4C2FF4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8E8120CE-D9FD-AD78-C908-576D5770EA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E2A3E587-447F-6B28-42E2-39C15CC44E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0BBF81A8-C166-7CB2-FB93-92F1B8E175DB}"/>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6" name="Footer Placeholder 5">
            <a:extLst>
              <a:ext uri="{FF2B5EF4-FFF2-40B4-BE49-F238E27FC236}">
                <a16:creationId xmlns="" xmlns:a16="http://schemas.microsoft.com/office/drawing/2014/main" id="{939D7B5A-E3F9-31F9-76F2-AA5792D3DD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BC04DFB3-92A0-3882-015E-23A572D39681}"/>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1117566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CFC6B9-6EE8-8ED3-A17C-4996EDE234D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B0E4037A-79EF-E663-6280-4260BB2087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A4CB83C3-4E74-8D4F-4E37-8669EBE1F9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25F726FB-6EE6-5A00-03A4-78799871ED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CCF2A007-45EE-8FA6-1B6D-52C400AB7F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DD4398F4-25D7-3DD5-65A7-BA5BBA42B9F5}"/>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8" name="Footer Placeholder 7">
            <a:extLst>
              <a:ext uri="{FF2B5EF4-FFF2-40B4-BE49-F238E27FC236}">
                <a16:creationId xmlns="" xmlns:a16="http://schemas.microsoft.com/office/drawing/2014/main" id="{4D992394-1AD3-3F2B-B36F-69DA52DD13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EDEB49F1-449A-D904-10C0-F70EE8A2C832}"/>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2084480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D1D83B-A803-434F-AF7D-29B5E4929CF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9D8404E2-3B25-1F67-C360-DEA2CDFB358E}"/>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4" name="Footer Placeholder 3">
            <a:extLst>
              <a:ext uri="{FF2B5EF4-FFF2-40B4-BE49-F238E27FC236}">
                <a16:creationId xmlns="" xmlns:a16="http://schemas.microsoft.com/office/drawing/2014/main" id="{151D809A-0145-3008-52BC-D6366F5864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0ED820B0-E8A0-C1E3-55FA-67ADD6C7948A}"/>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792965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6FBD829-02D8-82C1-FEAE-688E3BAE46A4}"/>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3" name="Footer Placeholder 2">
            <a:extLst>
              <a:ext uri="{FF2B5EF4-FFF2-40B4-BE49-F238E27FC236}">
                <a16:creationId xmlns="" xmlns:a16="http://schemas.microsoft.com/office/drawing/2014/main" id="{07676F00-B329-C6B6-522C-A3971C950C6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3B9F1745-0463-110F-9F1B-A67763FB4F16}"/>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3090293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C15B05-7A0F-EAE4-940B-2461562C12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4731A9D4-DA2A-68EA-6D79-833D97755B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484445B1-E86B-41BD-3E7A-8D6E6AFAAE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37664FEB-843F-00FC-746C-699105FA209F}"/>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6" name="Footer Placeholder 5">
            <a:extLst>
              <a:ext uri="{FF2B5EF4-FFF2-40B4-BE49-F238E27FC236}">
                <a16:creationId xmlns="" xmlns:a16="http://schemas.microsoft.com/office/drawing/2014/main" id="{B2490C73-6253-84E9-8B5B-3F7BD3FCBE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99224DF5-3F91-E6F4-46D5-BE2B0F7B4F8F}"/>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1238282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32A73F4-64D1-88C9-F830-83869ED757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41DAB110-9C75-3049-923B-F76AF6A46B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CA8379B5-F53A-3FA5-7DA9-F117094CD4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08F78827-0DD1-1A36-9644-6D77C83E75B6}"/>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6" name="Footer Placeholder 5">
            <a:extLst>
              <a:ext uri="{FF2B5EF4-FFF2-40B4-BE49-F238E27FC236}">
                <a16:creationId xmlns="" xmlns:a16="http://schemas.microsoft.com/office/drawing/2014/main" id="{484001F7-6A4C-9595-5D94-836D785A95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097769DE-0345-25BF-5112-E5A893584B04}"/>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1940027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27A28A-54A9-BB8A-023F-75D77399059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40482D21-0C43-28EC-AD85-1432675D1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C29CB2E-090C-F686-3890-919D16058FA2}"/>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5" name="Footer Placeholder 4">
            <a:extLst>
              <a:ext uri="{FF2B5EF4-FFF2-40B4-BE49-F238E27FC236}">
                <a16:creationId xmlns="" xmlns:a16="http://schemas.microsoft.com/office/drawing/2014/main" id="{B4996FF1-033A-0915-925B-E811F6C2BC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39DC0969-0E4D-4A1C-73CC-2A61E3C4308C}"/>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1481070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D53DA963-1097-3DFB-C801-2FED570962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C0096383-7EDE-0421-5A32-0AB143D35D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CF7D735-05E9-D99D-5AC2-9F4B61C8469D}"/>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5" name="Footer Placeholder 4">
            <a:extLst>
              <a:ext uri="{FF2B5EF4-FFF2-40B4-BE49-F238E27FC236}">
                <a16:creationId xmlns="" xmlns:a16="http://schemas.microsoft.com/office/drawing/2014/main" id="{D361761A-3B14-2F81-30AE-4CE388D981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F0B3DD2-3340-71B4-C09D-5C58B21579A2}"/>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2400271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AD31E4DE-7619-F38B-5AA1-2DF4F29930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D69F6F4D-ABCA-ED55-95DF-4AA82A07CE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BC9B078-71C3-3C2D-ACE1-96C2C7120A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43F8F5-4763-4C94-B25B-37D302718B1A}" type="datetimeFigureOut">
              <a:rPr lang="en-IN" smtClean="0"/>
              <a:pPr/>
              <a:t>30-09-2026</a:t>
            </a:fld>
            <a:endParaRPr lang="en-IN"/>
          </a:p>
        </p:txBody>
      </p:sp>
      <p:sp>
        <p:nvSpPr>
          <p:cNvPr id="5" name="Footer Placeholder 4">
            <a:extLst>
              <a:ext uri="{FF2B5EF4-FFF2-40B4-BE49-F238E27FC236}">
                <a16:creationId xmlns="" xmlns:a16="http://schemas.microsoft.com/office/drawing/2014/main" id="{827D4CAC-6752-BCFC-284D-B38380F44D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 xmlns:a16="http://schemas.microsoft.com/office/drawing/2014/main" id="{D59CBB69-6BD4-2D51-1DB8-7102FCC4E0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2535607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05C915-6B30-C836-1839-183F38C5D7CA}"/>
              </a:ext>
            </a:extLst>
          </p:cNvPr>
          <p:cNvSpPr>
            <a:spLocks noGrp="1"/>
          </p:cNvSpPr>
          <p:nvPr>
            <p:ph type="ctrTitle"/>
          </p:nvPr>
        </p:nvSpPr>
        <p:spPr>
          <a:xfrm>
            <a:off x="822960" y="0"/>
            <a:ext cx="9144000" cy="2387600"/>
          </a:xfrm>
        </p:spPr>
        <p:txBody>
          <a:bodyPr>
            <a:normAutofit/>
          </a:bodyPr>
          <a:lstStyle/>
          <a:p>
            <a:r>
              <a:rPr lang="en-US" sz="2000" dirty="0"/>
              <a:t>                   AI FAQ Assistant API  </a:t>
            </a:r>
            <a:br>
              <a:rPr lang="en-US" sz="2000" dirty="0"/>
            </a:br>
            <a:r>
              <a:rPr lang="en-US" sz="2000" dirty="0"/>
              <a:t/>
            </a:r>
            <a:br>
              <a:rPr lang="en-US" sz="2000" dirty="0"/>
            </a:br>
            <a:r>
              <a:rPr lang="en-US" sz="2000" dirty="0"/>
              <a:t>                 </a:t>
            </a:r>
            <a:r>
              <a:rPr lang="en-US" sz="2000" dirty="0" smtClean="0"/>
              <a:t>   TEAM </a:t>
            </a:r>
            <a:r>
              <a:rPr lang="en-US" sz="2000" dirty="0"/>
              <a:t>LEADER  :  </a:t>
            </a:r>
            <a:r>
              <a:rPr lang="en-US" sz="2000" dirty="0" smtClean="0"/>
              <a:t>R SHANMUGAPRIYA</a:t>
            </a:r>
            <a:r>
              <a:rPr lang="en-US" sz="2000" dirty="0"/>
              <a:t/>
            </a:r>
            <a:br>
              <a:rPr lang="en-US" sz="2000" dirty="0"/>
            </a:br>
            <a:r>
              <a:rPr lang="en-US" sz="2000" dirty="0"/>
              <a:t>       </a:t>
            </a:r>
            <a:r>
              <a:rPr lang="en-US" sz="2000" dirty="0" smtClean="0"/>
              <a:t>  </a:t>
            </a:r>
            <a:r>
              <a:rPr lang="en-US" sz="2000" dirty="0"/>
              <a:t>TEAM MEMBER : </a:t>
            </a:r>
            <a:r>
              <a:rPr lang="en-US" sz="2000" dirty="0" smtClean="0"/>
              <a:t>1.V SIVAPRIYA</a:t>
            </a:r>
            <a:r>
              <a:rPr lang="en-US" sz="2000" dirty="0"/>
              <a:t/>
            </a:r>
            <a:br>
              <a:rPr lang="en-US" sz="2000" dirty="0"/>
            </a:br>
            <a:r>
              <a:rPr lang="en-US" sz="2000" dirty="0"/>
              <a:t>  </a:t>
            </a:r>
            <a:r>
              <a:rPr lang="en-US" sz="2000" dirty="0" smtClean="0"/>
              <a:t> TEAM </a:t>
            </a:r>
            <a:r>
              <a:rPr lang="en-US" sz="2000" dirty="0"/>
              <a:t>MEMBER : </a:t>
            </a:r>
            <a:r>
              <a:rPr lang="en-US" sz="2000" dirty="0" smtClean="0"/>
              <a:t>2.M SUBHA</a:t>
            </a:r>
            <a:r>
              <a:rPr lang="en-US" sz="2000" dirty="0"/>
              <a:t/>
            </a:r>
            <a:br>
              <a:rPr lang="en-US" sz="2000" dirty="0"/>
            </a:br>
            <a:r>
              <a:rPr lang="en-US" sz="2000" dirty="0"/>
              <a:t>                  </a:t>
            </a:r>
            <a:r>
              <a:rPr lang="en-US" sz="2000" dirty="0" smtClean="0"/>
              <a:t>  </a:t>
            </a:r>
            <a:r>
              <a:rPr lang="en-US" sz="2000" dirty="0" smtClean="0"/>
              <a:t>TEAM </a:t>
            </a:r>
            <a:r>
              <a:rPr lang="en-US" sz="2000" dirty="0"/>
              <a:t>MEMBER : </a:t>
            </a:r>
            <a:r>
              <a:rPr lang="en-US" sz="2000" dirty="0" smtClean="0"/>
              <a:t>3.M SURIYAKEERTHI</a:t>
            </a:r>
            <a:r>
              <a:rPr lang="en-US" sz="2000" dirty="0"/>
              <a:t/>
            </a:r>
            <a:br>
              <a:rPr lang="en-US" sz="2000" dirty="0"/>
            </a:br>
            <a:r>
              <a:rPr lang="en-US" sz="2000" dirty="0"/>
              <a:t>   </a:t>
            </a:r>
            <a:r>
              <a:rPr lang="en-US" sz="2000" dirty="0" smtClean="0"/>
              <a:t>  </a:t>
            </a:r>
            <a:r>
              <a:rPr lang="en-US" sz="2000" dirty="0"/>
              <a:t> </a:t>
            </a:r>
            <a:r>
              <a:rPr lang="en-US" sz="2000" dirty="0" smtClean="0"/>
              <a:t>TEAM </a:t>
            </a:r>
            <a:r>
              <a:rPr lang="en-US" sz="2000" dirty="0"/>
              <a:t>MEMBER : </a:t>
            </a:r>
            <a:r>
              <a:rPr lang="en-US" sz="2000" dirty="0" smtClean="0"/>
              <a:t>4.S SWETHA</a:t>
            </a:r>
            <a:endParaRPr lang="en-IN" sz="2000" dirty="0"/>
          </a:p>
        </p:txBody>
      </p:sp>
      <p:sp>
        <p:nvSpPr>
          <p:cNvPr id="3" name="Subtitle 2">
            <a:extLst>
              <a:ext uri="{FF2B5EF4-FFF2-40B4-BE49-F238E27FC236}">
                <a16:creationId xmlns="" xmlns:a16="http://schemas.microsoft.com/office/drawing/2014/main" id="{3E35496A-F9EB-19E4-31C2-5A21B9EA0B45}"/>
              </a:ext>
            </a:extLst>
          </p:cNvPr>
          <p:cNvSpPr>
            <a:spLocks noGrp="1"/>
          </p:cNvSpPr>
          <p:nvPr>
            <p:ph type="subTitle" idx="1"/>
          </p:nvPr>
        </p:nvSpPr>
        <p:spPr>
          <a:xfrm>
            <a:off x="1332271" y="2768918"/>
            <a:ext cx="9447847" cy="3188309"/>
          </a:xfrm>
        </p:spPr>
        <p:txBody>
          <a:bodyPr vert="horz" lIns="91440" tIns="45720" rIns="91440" bIns="45720" rtlCol="0" anchor="t">
            <a:normAutofit fontScale="92500" lnSpcReduction="20000"/>
          </a:bodyPr>
          <a:lstStyle/>
          <a:p>
            <a:pPr algn="l"/>
            <a:r>
              <a:rPr lang="en-US" sz="2000" b="1" dirty="0"/>
              <a:t>PROJECT TITLE:</a:t>
            </a:r>
          </a:p>
          <a:p>
            <a:r>
              <a:rPr lang="en-US" sz="2000" b="1" dirty="0"/>
              <a:t>AI FAQ ASSITANT:FASTER,SMARTER,CUSTOMER SUPPORT</a:t>
            </a:r>
          </a:p>
          <a:p>
            <a:pPr algn="l"/>
            <a:r>
              <a:rPr lang="en-IN" b="1" dirty="0"/>
              <a:t>Description:</a:t>
            </a:r>
          </a:p>
          <a:p>
            <a:pPr algn="l"/>
            <a:r>
              <a:rPr lang="en-IN" b="1" dirty="0"/>
              <a:t>                   </a:t>
            </a:r>
            <a:r>
              <a:rPr lang="en-IN" sz="1900" b="1" dirty="0"/>
              <a:t> </a:t>
            </a:r>
            <a:r>
              <a:rPr lang="en-IN" sz="1900" dirty="0"/>
              <a:t>The </a:t>
            </a:r>
            <a:r>
              <a:rPr lang="en-IN" sz="1900" b="1" dirty="0"/>
              <a:t>AI FAQ Assistant: Faster, Smarter Customer Support</a:t>
            </a:r>
            <a:r>
              <a:rPr lang="en-IN" sz="1900" dirty="0"/>
              <a:t> is an intelligent customer-support system that uses Artificial Intelligence and Natural Language Processing (NLP) to understand customer questions and provide quick, accurate, and relevant answers. It automates responses to frequently asked questions, reducing the workload of support staff and improving response time. The system can be trained using FAQs, product details, policies, and other support information, enabling customers to receive instant assistance 24/7. This project aims to make customer service faster, more efficient, accessible, and user-friendly while allowing human agents to focus on complex customer issues.</a:t>
            </a:r>
          </a:p>
          <a:p>
            <a:pPr algn="l"/>
            <a:endParaRPr lang="en-IN" b="1"/>
          </a:p>
        </p:txBody>
      </p:sp>
    </p:spTree>
    <p:extLst>
      <p:ext uri="{BB962C8B-B14F-4D97-AF65-F5344CB8AC3E}">
        <p14:creationId xmlns="" xmlns:p14="http://schemas.microsoft.com/office/powerpoint/2010/main" val="2860830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E82B72F6-32D4-5EB0-A10B-3D8D24F83081}"/>
              </a:ext>
            </a:extLst>
          </p:cNvPr>
          <p:cNvSpPr txBox="1"/>
          <p:nvPr/>
        </p:nvSpPr>
        <p:spPr>
          <a:xfrm>
            <a:off x="1730476" y="983224"/>
            <a:ext cx="8947355" cy="5355312"/>
          </a:xfrm>
          <a:prstGeom prst="rect">
            <a:avLst/>
          </a:prstGeom>
          <a:noFill/>
        </p:spPr>
        <p:txBody>
          <a:bodyPr wrap="square">
            <a:spAutoFit/>
          </a:bodyPr>
          <a:lstStyle/>
          <a:p>
            <a:pPr rtl="0">
              <a:buNone/>
            </a:pPr>
            <a:r>
              <a:rPr lang="en-IN"/>
              <a:t>        </a:t>
            </a:r>
            <a:r>
              <a:rPr lang="en-IN" b="1"/>
              <a:t>SCENARIO BASED CASE STUDY:</a:t>
            </a:r>
          </a:p>
          <a:p>
            <a:pPr rtl="0">
              <a:buNone/>
            </a:pPr>
            <a:endParaRPr lang="en-IN" b="1"/>
          </a:p>
          <a:p>
            <a:r>
              <a:rPr lang="en-IN"/>
              <a:t>                 </a:t>
            </a:r>
            <a:r>
              <a:rPr lang="en-IN" b="1"/>
              <a:t>Background:</a:t>
            </a:r>
          </a:p>
          <a:p>
            <a:r>
              <a:rPr lang="en-IN"/>
              <a:t>A large e-commerce company receives a high volume of customer queries every day regarding orders, delivery, returns, refunds, payments, and product information. Most of these questions are repetitive and require customer-support employees to provide the same information repeatedly.</a:t>
            </a:r>
          </a:p>
          <a:p>
            <a:r>
              <a:rPr lang="en-IN" b="1"/>
              <a:t>Problem:</a:t>
            </a:r>
          </a:p>
          <a:p>
            <a:r>
              <a:rPr lang="en-IN"/>
              <a:t>Customers often have to wait for support because of the large number of queries. Support employees spend valuable time handling simple and frequently asked questions, which reduces their ability to focus on complex customer issues. The company needs a faster and more efficient way to handle routine queries.</a:t>
            </a:r>
          </a:p>
          <a:p>
            <a:r>
              <a:rPr lang="en-IN" b="1"/>
              <a:t>Solution:</a:t>
            </a:r>
          </a:p>
          <a:p>
            <a:r>
              <a:rPr lang="en-IN"/>
              <a:t>The company introduces an </a:t>
            </a:r>
            <a:r>
              <a:rPr lang="en-IN" b="1"/>
              <a:t>AI FAQ Assistant</a:t>
            </a:r>
            <a:r>
              <a:rPr lang="en-IN"/>
              <a:t> that uses Artificial Intelligence and Natural Language Processing (NLP) to understand customer questions and provide relevant answers automatically. The assistant uses a knowledge base containing FAQs, product information, company policies, and support instructions. If the AI cannot resolve a complex query, it transfers the customer to a human support agent.</a:t>
            </a:r>
          </a:p>
          <a:p>
            <a:pPr algn="just" rtl="0">
              <a:buNone/>
            </a:pPr>
            <a:endParaRPr lang="en-IN"/>
          </a:p>
        </p:txBody>
      </p:sp>
    </p:spTree>
    <p:extLst>
      <p:ext uri="{BB962C8B-B14F-4D97-AF65-F5344CB8AC3E}">
        <p14:creationId xmlns="" xmlns:p14="http://schemas.microsoft.com/office/powerpoint/2010/main" val="387977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F699EFB8-010D-5E3A-BE7D-708E878A4BFB}"/>
              </a:ext>
            </a:extLst>
          </p:cNvPr>
          <p:cNvSpPr txBox="1"/>
          <p:nvPr/>
        </p:nvSpPr>
        <p:spPr>
          <a:xfrm>
            <a:off x="1858296" y="972656"/>
            <a:ext cx="9242323" cy="4247317"/>
          </a:xfrm>
          <a:prstGeom prst="rect">
            <a:avLst/>
          </a:prstGeom>
          <a:noFill/>
        </p:spPr>
        <p:txBody>
          <a:bodyPr wrap="square">
            <a:spAutoFit/>
          </a:bodyPr>
          <a:lstStyle/>
          <a:p>
            <a:r>
              <a:rPr lang="en-IN" sz="1800" b="1" dirty="0"/>
              <a:t>Usage:</a:t>
            </a:r>
          </a:p>
          <a:p>
            <a:endParaRPr lang="en-IN" sz="1800" b="1" dirty="0"/>
          </a:p>
          <a:p>
            <a:r>
              <a:rPr lang="en-IN" sz="1800" dirty="0"/>
              <a:t>Customers can interact with the AI Assistant through the company's website or application. For example, a customer may ask, </a:t>
            </a:r>
            <a:r>
              <a:rPr lang="en-IN" sz="1800" b="1" dirty="0"/>
              <a:t>“How can I return my order?”</a:t>
            </a:r>
            <a:r>
              <a:rPr lang="en-IN" sz="1800" dirty="0"/>
              <a:t> The assistant identifies the question and provides the return procedure immediately. It can also answer questions about order tracking, delivery time, refunds, cancellations, payment methods, and product information.</a:t>
            </a:r>
          </a:p>
          <a:p>
            <a:endParaRPr lang="en-IN" sz="1800" dirty="0"/>
          </a:p>
          <a:p>
            <a:r>
              <a:rPr lang="en-IN" sz="1800" b="1" dirty="0"/>
              <a:t>Outcome:</a:t>
            </a:r>
          </a:p>
          <a:p>
            <a:endParaRPr lang="en-IN" sz="1800" b="1" dirty="0"/>
          </a:p>
          <a:p>
            <a:r>
              <a:rPr lang="en-IN" sz="1800" dirty="0"/>
              <a:t>The AI FAQ Assistant provides </a:t>
            </a:r>
            <a:r>
              <a:rPr lang="en-IN" sz="1800" b="1" dirty="0"/>
              <a:t>24/7 customer support</a:t>
            </a:r>
            <a:r>
              <a:rPr lang="en-IN" sz="1800" dirty="0"/>
              <a:t>, reduces response time, and decreases the workload of customer-support employees. Customers receive quick answers to common questions, while human agents can focus on more complicated problems. Overall, the system improves support efficiency and creates a faster and more convenient customer experience.</a:t>
            </a:r>
          </a:p>
        </p:txBody>
      </p:sp>
    </p:spTree>
    <p:extLst>
      <p:ext uri="{BB962C8B-B14F-4D97-AF65-F5344CB8AC3E}">
        <p14:creationId xmlns="" xmlns:p14="http://schemas.microsoft.com/office/powerpoint/2010/main" val="2573233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2680D98C-F049-F1D1-56AF-B44B4010E7FD}"/>
              </a:ext>
            </a:extLst>
          </p:cNvPr>
          <p:cNvSpPr txBox="1"/>
          <p:nvPr/>
        </p:nvSpPr>
        <p:spPr>
          <a:xfrm>
            <a:off x="1288026" y="317230"/>
            <a:ext cx="6096000" cy="1292662"/>
          </a:xfrm>
          <a:prstGeom prst="rect">
            <a:avLst/>
          </a:prstGeom>
          <a:noFill/>
        </p:spPr>
        <p:txBody>
          <a:bodyPr wrap="square">
            <a:spAutoFit/>
          </a:bodyPr>
          <a:lstStyle/>
          <a:p>
            <a:pPr indent="0" algn="l" rtl="0">
              <a:buNone/>
            </a:pPr>
            <a:r>
              <a:rPr lang="en-IN" b="1" i="0">
                <a:solidFill>
                  <a:schemeClr val="tx1"/>
                </a:solidFill>
                <a:effectLst/>
                <a:latin typeface="+mn-lt"/>
              </a:rPr>
              <a:t>Software Requirements</a:t>
            </a:r>
          </a:p>
          <a:p>
            <a:pPr marL="342900" lvl="0" indent="-342900" algn="l" rtl="0">
              <a:buFont typeface="Arial" panose="020B0604020202020204" pitchFamily="34" charset="0"/>
              <a:buChar char="•"/>
            </a:pPr>
            <a:r>
              <a:rPr lang="en-IN" sz="1800" b="0" i="0">
                <a:solidFill>
                  <a:schemeClr val="tx1"/>
                </a:solidFill>
                <a:effectLst/>
                <a:latin typeface="+mn-lt"/>
              </a:rPr>
              <a:t>Operating System: Windows 10/11, Linux, or macOS</a:t>
            </a:r>
          </a:p>
          <a:p>
            <a:pPr marL="342900" lvl="0" indent="-342900" algn="l" rtl="0">
              <a:buFont typeface="Arial" panose="020B0604020202020204" pitchFamily="34" charset="0"/>
              <a:buChar char="•"/>
            </a:pPr>
            <a:r>
              <a:rPr lang="en-IN" sz="1800" b="0" i="0">
                <a:solidFill>
                  <a:schemeClr val="tx1"/>
                </a:solidFill>
                <a:effectLst/>
                <a:latin typeface="+mn-lt"/>
              </a:rPr>
              <a:t>Programming Language: Python</a:t>
            </a:r>
          </a:p>
          <a:p>
            <a:pPr marL="342900" lvl="0" indent="-342900" algn="l" rtl="0">
              <a:buFont typeface="Arial" panose="020B0604020202020204" pitchFamily="34" charset="0"/>
              <a:buChar char="•"/>
            </a:pPr>
            <a:r>
              <a:rPr lang="en-IN" sz="1800" b="0" i="0">
                <a:solidFill>
                  <a:schemeClr val="tx1"/>
                </a:solidFill>
                <a:effectLst/>
                <a:latin typeface="+mn-lt"/>
              </a:rPr>
              <a:t>Frontend: HTML, CSS, JavaScript / React</a:t>
            </a:r>
          </a:p>
          <a:p>
            <a:pPr marL="342900" lvl="0" indent="-342900" algn="l" rtl="0">
              <a:buFont typeface="Arial" panose="020B0604020202020204" pitchFamily="34" charset="0"/>
              <a:buChar char="•"/>
            </a:pPr>
            <a:r>
              <a:rPr lang="en-IN" sz="1800" b="0" i="0">
                <a:solidFill>
                  <a:schemeClr val="tx1"/>
                </a:solidFill>
                <a:effectLst/>
                <a:latin typeface="+mn-lt"/>
              </a:rPr>
              <a:t>Backend: Python Flask or Django</a:t>
            </a:r>
          </a:p>
          <a:p>
            <a:pPr marL="342900" lvl="0" indent="-342900" algn="l" rtl="0">
              <a:buFont typeface="Arial" panose="020B0604020202020204" pitchFamily="34" charset="0"/>
              <a:buChar char="•"/>
            </a:pPr>
            <a:r>
              <a:rPr lang="en-IN" sz="1800" b="0" i="0">
                <a:solidFill>
                  <a:schemeClr val="tx1"/>
                </a:solidFill>
                <a:effectLst/>
                <a:latin typeface="+mn-lt"/>
              </a:rPr>
              <a:t>Database: MySQL / MongoDB</a:t>
            </a:r>
            <a:endParaRPr lang="en-IN" sz="1200" b="0" i="0">
              <a:solidFill>
                <a:srgbClr val="0D0D0D"/>
              </a:solidFill>
              <a:effectLst/>
              <a:latin typeface="-apple-system-body"/>
            </a:endParaRPr>
          </a:p>
        </p:txBody>
      </p:sp>
      <p:sp>
        <p:nvSpPr>
          <p:cNvPr id="5" name="TextBox 4">
            <a:extLst>
              <a:ext uri="{FF2B5EF4-FFF2-40B4-BE49-F238E27FC236}">
                <a16:creationId xmlns="" xmlns:a16="http://schemas.microsoft.com/office/drawing/2014/main" id="{D5B94064-C0A4-68ED-441B-9A353FAC7140}"/>
              </a:ext>
            </a:extLst>
          </p:cNvPr>
          <p:cNvSpPr txBox="1"/>
          <p:nvPr/>
        </p:nvSpPr>
        <p:spPr>
          <a:xfrm>
            <a:off x="1288026" y="2329001"/>
            <a:ext cx="6096000" cy="1477328"/>
          </a:xfrm>
          <a:prstGeom prst="rect">
            <a:avLst/>
          </a:prstGeom>
          <a:noFill/>
        </p:spPr>
        <p:txBody>
          <a:bodyPr wrap="square">
            <a:spAutoFit/>
          </a:bodyPr>
          <a:lstStyle/>
          <a:p>
            <a:pPr indent="0" algn="l" rtl="0">
              <a:buNone/>
            </a:pPr>
            <a:r>
              <a:rPr lang="en-IN" b="1" i="0">
                <a:solidFill>
                  <a:schemeClr val="tx1"/>
                </a:solidFill>
                <a:effectLst/>
                <a:latin typeface="+mn-lt"/>
              </a:rPr>
              <a:t>Hardware Requirements</a:t>
            </a:r>
          </a:p>
          <a:p>
            <a:pPr marL="342900" lvl="0" indent="-342900" algn="l" rtl="0">
              <a:buFont typeface="Arial" panose="020B0604020202020204" pitchFamily="34" charset="0"/>
              <a:buChar char="•"/>
            </a:pPr>
            <a:r>
              <a:rPr lang="en-IN" sz="1800" b="0" i="0">
                <a:solidFill>
                  <a:schemeClr val="tx1"/>
                </a:solidFill>
                <a:effectLst/>
                <a:latin typeface="+mn-lt"/>
              </a:rPr>
              <a:t>Processor: Intel Core i3 or equivalent and above</a:t>
            </a:r>
          </a:p>
          <a:p>
            <a:pPr marL="342900" lvl="0" indent="-342900" algn="l" rtl="0">
              <a:buFont typeface="Arial" panose="020B0604020202020204" pitchFamily="34" charset="0"/>
              <a:buChar char="•"/>
            </a:pPr>
            <a:r>
              <a:rPr lang="en-IN" sz="1800" b="0" i="0">
                <a:solidFill>
                  <a:schemeClr val="tx1"/>
                </a:solidFill>
                <a:effectLst/>
                <a:latin typeface="+mn-lt"/>
              </a:rPr>
              <a:t>RAM: Minimum 4 GB, recommended 8 GB</a:t>
            </a:r>
          </a:p>
          <a:p>
            <a:pPr marL="342900" lvl="0" indent="-342900" algn="l" rtl="0">
              <a:buFont typeface="Arial" panose="020B0604020202020204" pitchFamily="34" charset="0"/>
              <a:buChar char="•"/>
            </a:pPr>
            <a:r>
              <a:rPr lang="en-IN" sz="1800" b="0" i="0">
                <a:solidFill>
                  <a:schemeClr val="tx1"/>
                </a:solidFill>
                <a:effectLst/>
                <a:latin typeface="+mn-lt"/>
              </a:rPr>
              <a:t>Storage: Minimum 10 GB of free space</a:t>
            </a:r>
          </a:p>
          <a:p>
            <a:pPr marL="342900" lvl="0" indent="-342900" algn="l" rtl="0">
              <a:buFont typeface="Arial" panose="020B0604020202020204" pitchFamily="34" charset="0"/>
              <a:buChar char="•"/>
            </a:pPr>
            <a:r>
              <a:rPr lang="en-IN" sz="1800" b="0" i="0">
                <a:solidFill>
                  <a:schemeClr val="tx1"/>
                </a:solidFill>
                <a:effectLst/>
                <a:latin typeface="+mn-lt"/>
              </a:rPr>
              <a:t>Display: 1366 × 768 resolution or higher</a:t>
            </a:r>
          </a:p>
          <a:p>
            <a:pPr marL="342900" lvl="0" indent="-342900" algn="l" rtl="0">
              <a:buFont typeface="Arial" panose="020B0604020202020204" pitchFamily="34" charset="0"/>
              <a:buChar char="•"/>
            </a:pPr>
            <a:r>
              <a:rPr lang="en-IN" sz="1800" b="0" i="0">
                <a:solidFill>
                  <a:schemeClr val="tx1"/>
                </a:solidFill>
                <a:effectLst/>
                <a:latin typeface="+mn-lt"/>
              </a:rPr>
              <a:t>Keyboard and Mouse</a:t>
            </a:r>
          </a:p>
          <a:p>
            <a:pPr marL="342900" lvl="0" indent="-342900" algn="l" rtl="0">
              <a:buFont typeface="Arial" panose="020B0604020202020204" pitchFamily="34" charset="0"/>
              <a:buChar char="•"/>
            </a:pPr>
            <a:r>
              <a:rPr lang="en-IN" sz="1800" b="0" i="0">
                <a:solidFill>
                  <a:schemeClr val="tx1"/>
                </a:solidFill>
                <a:effectLst/>
                <a:latin typeface="+mn-lt"/>
              </a:rPr>
              <a:t>Internet Connectivity: Wi-Fi or Ethernet</a:t>
            </a:r>
            <a:endParaRPr lang="en-IN" sz="1200" b="0" i="0">
              <a:solidFill>
                <a:srgbClr val="0D0D0D"/>
              </a:solidFill>
              <a:effectLst/>
              <a:latin typeface="-apple-system-body"/>
            </a:endParaRPr>
          </a:p>
        </p:txBody>
      </p:sp>
    </p:spTree>
    <p:extLst>
      <p:ext uri="{BB962C8B-B14F-4D97-AF65-F5344CB8AC3E}">
        <p14:creationId xmlns="" xmlns:p14="http://schemas.microsoft.com/office/powerpoint/2010/main" val="1686426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BD94602-E4AF-D11E-A507-37E41B1ADE6C}"/>
              </a:ext>
            </a:extLst>
          </p:cNvPr>
          <p:cNvSpPr txBox="1"/>
          <p:nvPr/>
        </p:nvSpPr>
        <p:spPr>
          <a:xfrm>
            <a:off x="3048000" y="912622"/>
            <a:ext cx="6096000" cy="5355312"/>
          </a:xfrm>
          <a:prstGeom prst="rect">
            <a:avLst/>
          </a:prstGeom>
          <a:noFill/>
        </p:spPr>
        <p:txBody>
          <a:bodyPr wrap="square">
            <a:spAutoFit/>
          </a:bodyPr>
          <a:lstStyle/>
          <a:p>
            <a:r>
              <a:rPr lang="en-IN" b="1"/>
              <a:t>Epic 1: PROJECT ARCHITECTURE</a:t>
            </a:r>
          </a:p>
          <a:p>
            <a:r>
              <a:rPr lang="en-IN"/>
              <a:t> USER</a:t>
            </a:r>
          </a:p>
          <a:p>
            <a:r>
              <a:rPr lang="en-IN"/>
              <a:t>          ↓</a:t>
            </a:r>
          </a:p>
          <a:p>
            <a:r>
              <a:rPr lang="en-IN"/>
              <a:t>   Chat Interface</a:t>
            </a:r>
          </a:p>
          <a:p>
            <a:r>
              <a:rPr lang="en-IN"/>
              <a:t>          ↓</a:t>
            </a:r>
          </a:p>
          <a:p>
            <a:r>
              <a:rPr lang="en-IN"/>
              <a:t>    Backend Server</a:t>
            </a:r>
          </a:p>
          <a:p>
            <a:r>
              <a:rPr lang="en-IN"/>
              <a:t>          ↓</a:t>
            </a:r>
          </a:p>
          <a:p>
            <a:r>
              <a:rPr lang="en-IN"/>
              <a:t>   Query Processing</a:t>
            </a:r>
          </a:p>
          <a:p>
            <a:r>
              <a:rPr lang="en-IN"/>
              <a:t>          ↓</a:t>
            </a:r>
          </a:p>
          <a:p>
            <a:r>
              <a:rPr lang="en-IN"/>
              <a:t>   NLP / AI Engine</a:t>
            </a:r>
          </a:p>
          <a:p>
            <a:r>
              <a:rPr lang="en-IN"/>
              <a:t>          ↓</a:t>
            </a:r>
          </a:p>
          <a:p>
            <a:r>
              <a:rPr lang="en-IN"/>
              <a:t>   FAQ Knowledge Base</a:t>
            </a:r>
          </a:p>
          <a:p>
            <a:r>
              <a:rPr lang="en-IN"/>
              <a:t>          ↓</a:t>
            </a:r>
          </a:p>
          <a:p>
            <a:r>
              <a:rPr lang="en-IN"/>
              <a:t>   Answer Generation</a:t>
            </a:r>
          </a:p>
          <a:p>
            <a:r>
              <a:rPr lang="en-IN"/>
              <a:t>          ↓</a:t>
            </a:r>
          </a:p>
          <a:p>
            <a:r>
              <a:rPr lang="en-IN"/>
              <a:t>    Response to User</a:t>
            </a:r>
          </a:p>
          <a:p>
            <a:r>
              <a:rPr lang="en-IN"/>
              <a:t>          ↓</a:t>
            </a:r>
          </a:p>
          <a:p>
            <a:r>
              <a:rPr lang="en-IN"/>
              <a:t>   Human Support Agent</a:t>
            </a:r>
          </a:p>
          <a:p>
            <a:r>
              <a:rPr lang="en-IN"/>
              <a:t>   (if required)</a:t>
            </a:r>
          </a:p>
        </p:txBody>
      </p:sp>
    </p:spTree>
    <p:extLst>
      <p:ext uri="{BB962C8B-B14F-4D97-AF65-F5344CB8AC3E}">
        <p14:creationId xmlns="" xmlns:p14="http://schemas.microsoft.com/office/powerpoint/2010/main" val="3626246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8273032B-5BF5-A0B3-DE80-829535E58049}"/>
              </a:ext>
            </a:extLst>
          </p:cNvPr>
          <p:cNvSpPr txBox="1"/>
          <p:nvPr/>
        </p:nvSpPr>
        <p:spPr>
          <a:xfrm>
            <a:off x="1160206" y="450698"/>
            <a:ext cx="8170606" cy="4247317"/>
          </a:xfrm>
          <a:prstGeom prst="rect">
            <a:avLst/>
          </a:prstGeom>
          <a:noFill/>
        </p:spPr>
        <p:txBody>
          <a:bodyPr wrap="square">
            <a:spAutoFit/>
          </a:bodyPr>
          <a:lstStyle/>
          <a:p>
            <a:pPr marL="0" marR="0" indent="0" algn="l" rtl="0">
              <a:buNone/>
            </a:pPr>
            <a:r>
              <a:rPr lang="en-IN" b="1" i="0">
                <a:solidFill>
                  <a:schemeClr val="tx1"/>
                </a:solidFill>
                <a:effectLst/>
                <a:latin typeface="+mn-lt"/>
              </a:rPr>
              <a:t>Main Components</a:t>
            </a:r>
          </a:p>
          <a:p>
            <a:pPr marL="342900" marR="0" lvl="0" indent="-342900" algn="l" rtl="0">
              <a:buFont typeface="Arial" panose="020B0604020202020204" pitchFamily="34" charset="0"/>
              <a:buChar char="•"/>
            </a:pPr>
            <a:r>
              <a:rPr lang="en-IN" b="1" i="0">
                <a:solidFill>
                  <a:schemeClr val="tx1"/>
                </a:solidFill>
                <a:effectLst/>
                <a:latin typeface="+mn-lt"/>
              </a:rPr>
              <a:t>User Interface:</a:t>
            </a:r>
            <a:r>
              <a:rPr lang="en-IN" b="0" i="0">
                <a:solidFill>
                  <a:schemeClr val="tx1"/>
                </a:solidFill>
                <a:effectLst/>
                <a:latin typeface="+mn-lt"/>
              </a:rPr>
              <a:t> Allows customers to enter questions and view responses.</a:t>
            </a:r>
          </a:p>
          <a:p>
            <a:pPr marL="342900" marR="0" lvl="0" indent="-342900" algn="l" rtl="0">
              <a:buFont typeface="Arial" panose="020B0604020202020204" pitchFamily="34" charset="0"/>
              <a:buChar char="•"/>
            </a:pPr>
            <a:r>
              <a:rPr lang="en-IN" b="1" i="0">
                <a:solidFill>
                  <a:schemeClr val="tx1"/>
                </a:solidFill>
                <a:effectLst/>
                <a:latin typeface="+mn-lt"/>
              </a:rPr>
              <a:t>Backend Server:</a:t>
            </a:r>
            <a:r>
              <a:rPr lang="en-IN" b="0" i="0">
                <a:solidFill>
                  <a:schemeClr val="tx1"/>
                </a:solidFill>
                <a:effectLst/>
                <a:latin typeface="+mn-lt"/>
              </a:rPr>
              <a:t> Receives user queries and manages communication between the system components.</a:t>
            </a:r>
          </a:p>
          <a:p>
            <a:pPr marL="342900" marR="0" lvl="0" indent="-342900" algn="l" rtl="0">
              <a:buFont typeface="Arial" panose="020B0604020202020204" pitchFamily="34" charset="0"/>
              <a:buChar char="•"/>
            </a:pPr>
            <a:r>
              <a:rPr lang="en-IN" b="1" i="0">
                <a:solidFill>
                  <a:schemeClr val="tx1"/>
                </a:solidFill>
                <a:effectLst/>
                <a:latin typeface="+mn-lt"/>
              </a:rPr>
              <a:t>NLP/AI Engine:</a:t>
            </a:r>
            <a:r>
              <a:rPr lang="en-IN" b="0" i="0">
                <a:solidFill>
                  <a:schemeClr val="tx1"/>
                </a:solidFill>
                <a:effectLst/>
                <a:latin typeface="+mn-lt"/>
              </a:rPr>
              <a:t> Understands the user's question and identifies its intent.</a:t>
            </a:r>
          </a:p>
          <a:p>
            <a:pPr marL="342900" marR="0" lvl="0" indent="-342900" algn="l" rtl="0">
              <a:buFont typeface="Arial" panose="020B0604020202020204" pitchFamily="34" charset="0"/>
              <a:buChar char="•"/>
            </a:pPr>
            <a:r>
              <a:rPr lang="en-IN" b="1" i="0">
                <a:solidFill>
                  <a:schemeClr val="tx1"/>
                </a:solidFill>
                <a:effectLst/>
                <a:latin typeface="+mn-lt"/>
              </a:rPr>
              <a:t>FAQ Knowledge Base:</a:t>
            </a:r>
            <a:r>
              <a:rPr lang="en-IN" b="0" i="0">
                <a:solidFill>
                  <a:schemeClr val="tx1"/>
                </a:solidFill>
                <a:effectLst/>
                <a:latin typeface="+mn-lt"/>
              </a:rPr>
              <a:t> Stores frequently asked questions, answers, product details, policies, and support information.</a:t>
            </a:r>
          </a:p>
          <a:p>
            <a:pPr marL="342900" marR="0" lvl="0" indent="-342900" algn="l" rtl="0">
              <a:buFont typeface="Arial" panose="020B0604020202020204" pitchFamily="34" charset="0"/>
              <a:buChar char="•"/>
            </a:pPr>
            <a:r>
              <a:rPr lang="en-IN" b="1" i="0">
                <a:solidFill>
                  <a:schemeClr val="tx1"/>
                </a:solidFill>
                <a:effectLst/>
                <a:latin typeface="+mn-lt"/>
              </a:rPr>
              <a:t>Response Generation:</a:t>
            </a:r>
            <a:r>
              <a:rPr lang="en-IN" b="0" i="0">
                <a:solidFill>
                  <a:schemeClr val="tx1"/>
                </a:solidFill>
                <a:effectLst/>
                <a:latin typeface="+mn-lt"/>
              </a:rPr>
              <a:t> Selects or generates the most relevant answer based on the user's query.</a:t>
            </a:r>
          </a:p>
          <a:p>
            <a:pPr marL="342900" marR="0" lvl="0" indent="-342900" algn="l" rtl="0">
              <a:buFont typeface="Arial" panose="020B0604020202020204" pitchFamily="34" charset="0"/>
              <a:buChar char="•"/>
            </a:pPr>
            <a:r>
              <a:rPr lang="en-IN" b="1" i="0">
                <a:solidFill>
                  <a:schemeClr val="tx1"/>
                </a:solidFill>
                <a:effectLst/>
                <a:latin typeface="+mn-lt"/>
              </a:rPr>
              <a:t>Human Support Module:</a:t>
            </a:r>
            <a:r>
              <a:rPr lang="en-IN" b="0" i="0">
                <a:solidFill>
                  <a:schemeClr val="tx1"/>
                </a:solidFill>
                <a:effectLst/>
                <a:latin typeface="+mn-lt"/>
              </a:rPr>
              <a:t> Transfers unanswered or complex queries to a customer-support representative.</a:t>
            </a:r>
          </a:p>
          <a:p>
            <a:pPr marL="342900" marR="0" lvl="0" indent="-342900" algn="l" rtl="0">
              <a:buFont typeface="Arial" panose="020B0604020202020204" pitchFamily="34" charset="0"/>
              <a:buChar char="•"/>
            </a:pPr>
            <a:r>
              <a:rPr lang="en-IN" b="1" i="0">
                <a:solidFill>
                  <a:schemeClr val="tx1"/>
                </a:solidFill>
                <a:effectLst/>
                <a:latin typeface="+mn-lt"/>
              </a:rPr>
              <a:t>Database:</a:t>
            </a:r>
            <a:r>
              <a:rPr lang="en-IN" b="0" i="0">
                <a:solidFill>
                  <a:schemeClr val="tx1"/>
                </a:solidFill>
                <a:effectLst/>
                <a:latin typeface="+mn-lt"/>
              </a:rPr>
              <a:t> Stores FAQ data, conversation information, and system-related records.</a:t>
            </a:r>
          </a:p>
          <a:p>
            <a:pPr>
              <a:buNone/>
            </a:pPr>
            <a:r>
              <a:rPr lang="en-IN"/>
              <a:t/>
            </a:r>
            <a:br>
              <a:rPr lang="en-IN"/>
            </a:br>
            <a:endParaRPr lang="en-IN"/>
          </a:p>
        </p:txBody>
      </p:sp>
    </p:spTree>
    <p:extLst>
      <p:ext uri="{BB962C8B-B14F-4D97-AF65-F5344CB8AC3E}">
        <p14:creationId xmlns="" xmlns:p14="http://schemas.microsoft.com/office/powerpoint/2010/main" val="3293667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4A7CA5C8-B23E-3243-E14D-9B77D104BE8D}"/>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 xmlns:p14="http://schemas.microsoft.com/office/powerpoint/2010/main" val="1753661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1692003E-1204-1339-FC73-58B386C35BBE}"/>
              </a:ext>
            </a:extLst>
          </p:cNvPr>
          <p:cNvSpPr txBox="1"/>
          <p:nvPr/>
        </p:nvSpPr>
        <p:spPr>
          <a:xfrm>
            <a:off x="255639" y="263775"/>
            <a:ext cx="6096000" cy="553998"/>
          </a:xfrm>
          <a:prstGeom prst="rect">
            <a:avLst/>
          </a:prstGeom>
          <a:noFill/>
        </p:spPr>
        <p:txBody>
          <a:bodyPr wrap="square">
            <a:spAutoFit/>
          </a:bodyPr>
          <a:lstStyle/>
          <a:p>
            <a:pPr indent="0" algn="l" rtl="0">
              <a:buNone/>
            </a:pPr>
            <a:r>
              <a:rPr lang="en-IN" b="1" i="0">
                <a:solidFill>
                  <a:schemeClr val="tx1"/>
                </a:solidFill>
                <a:effectLst/>
                <a:latin typeface="+mn-lt"/>
              </a:rPr>
              <a:t>Key Structural Mappings</a:t>
            </a:r>
          </a:p>
          <a:p>
            <a:pPr indent="0" algn="l" rtl="0">
              <a:buNone/>
            </a:pPr>
            <a:r>
              <a:rPr lang="en-IN" sz="1800" b="0" i="0">
                <a:solidFill>
                  <a:schemeClr val="tx1"/>
                </a:solidFill>
                <a:effectLst/>
                <a:latin typeface="+mn-lt"/>
              </a:rPr>
              <a:t>For the </a:t>
            </a:r>
            <a:r>
              <a:rPr lang="en-IN" sz="1800" b="1" i="0">
                <a:solidFill>
                  <a:schemeClr val="tx1"/>
                </a:solidFill>
                <a:effectLst/>
                <a:latin typeface="+mn-lt"/>
              </a:rPr>
              <a:t>AI FAQ Assistant</a:t>
            </a:r>
            <a:r>
              <a:rPr lang="en-IN" sz="1800" b="0" i="0">
                <a:solidFill>
                  <a:schemeClr val="tx1"/>
                </a:solidFill>
                <a:effectLst/>
                <a:latin typeface="+mn-lt"/>
              </a:rPr>
              <a:t>, the key structural mappings are:</a:t>
            </a:r>
            <a:endParaRPr lang="en-IN" sz="1200" b="0" i="0">
              <a:solidFill>
                <a:srgbClr val="0D0D0D"/>
              </a:solidFill>
              <a:effectLst/>
              <a:latin typeface="-apple-system-body"/>
            </a:endParaRPr>
          </a:p>
        </p:txBody>
      </p:sp>
      <p:graphicFrame>
        <p:nvGraphicFramePr>
          <p:cNvPr id="6" name="Table 5">
            <a:extLst>
              <a:ext uri="{FF2B5EF4-FFF2-40B4-BE49-F238E27FC236}">
                <a16:creationId xmlns="" xmlns:a16="http://schemas.microsoft.com/office/drawing/2014/main" id="{BDBD0D3A-4D8B-5ACE-60E0-6CB2076159E1}"/>
              </a:ext>
            </a:extLst>
          </p:cNvPr>
          <p:cNvGraphicFramePr>
            <a:graphicFrameLocks noGrp="1"/>
          </p:cNvGraphicFramePr>
          <p:nvPr>
            <p:extLst>
              <p:ext uri="{D42A27DB-BD31-4B8C-83A1-F6EECF244321}">
                <p14:modId xmlns="" xmlns:p14="http://schemas.microsoft.com/office/powerpoint/2010/main" val="1074578094"/>
              </p:ext>
            </p:extLst>
          </p:nvPr>
        </p:nvGraphicFramePr>
        <p:xfrm>
          <a:off x="1953342" y="1203960"/>
          <a:ext cx="8127999" cy="3302000"/>
        </p:xfrm>
        <a:graphic>
          <a:graphicData uri="http://schemas.openxmlformats.org/drawingml/2006/table">
            <a:tbl>
              <a:tblPr firstRow="1" bandRow="1">
                <a:tableStyleId>{5C22544A-7EE6-4342-B048-85BDC9FD1C3A}</a:tableStyleId>
              </a:tblPr>
              <a:tblGrid>
                <a:gridCol w="2709333">
                  <a:extLst>
                    <a:ext uri="{9D8B030D-6E8A-4147-A177-3AD203B41FA5}">
                      <a16:colId xmlns="" xmlns:a16="http://schemas.microsoft.com/office/drawing/2014/main" val="688066921"/>
                    </a:ext>
                  </a:extLst>
                </a:gridCol>
                <a:gridCol w="2709333">
                  <a:extLst>
                    <a:ext uri="{9D8B030D-6E8A-4147-A177-3AD203B41FA5}">
                      <a16:colId xmlns="" xmlns:a16="http://schemas.microsoft.com/office/drawing/2014/main" val="2776411655"/>
                    </a:ext>
                  </a:extLst>
                </a:gridCol>
                <a:gridCol w="2709333">
                  <a:extLst>
                    <a:ext uri="{9D8B030D-6E8A-4147-A177-3AD203B41FA5}">
                      <a16:colId xmlns="" xmlns:a16="http://schemas.microsoft.com/office/drawing/2014/main" val="71311789"/>
                    </a:ext>
                  </a:extLst>
                </a:gridCol>
              </a:tblGrid>
              <a:tr h="370840">
                <a:tc>
                  <a:txBody>
                    <a:bodyPr/>
                    <a:lstStyle/>
                    <a:p>
                      <a:r>
                        <a:rPr lang="en-US"/>
                        <a:t>              Entity</a:t>
                      </a:r>
                      <a:endParaRPr lang="en-IN"/>
                    </a:p>
                  </a:txBody>
                  <a:tcPr/>
                </a:tc>
                <a:tc>
                  <a:txBody>
                    <a:bodyPr/>
                    <a:lstStyle/>
                    <a:p>
                      <a:r>
                        <a:rPr lang="en-US"/>
                        <a:t>         Key </a:t>
                      </a:r>
                      <a:r>
                        <a:rPr lang="en-US" err="1"/>
                        <a:t>atrributes</a:t>
                      </a:r>
                      <a:endParaRPr lang="en-IN"/>
                    </a:p>
                  </a:txBody>
                  <a:tcPr/>
                </a:tc>
                <a:tc>
                  <a:txBody>
                    <a:bodyPr/>
                    <a:lstStyle/>
                    <a:p>
                      <a:pPr algn="ctr"/>
                      <a:r>
                        <a:rPr lang="en-US" err="1"/>
                        <a:t>Relatoinship</a:t>
                      </a:r>
                      <a:endParaRPr lang="en-IN"/>
                    </a:p>
                  </a:txBody>
                  <a:tcPr/>
                </a:tc>
                <a:extLst>
                  <a:ext uri="{0D108BD9-81ED-4DB2-BD59-A6C34878D82A}">
                    <a16:rowId xmlns="" xmlns:a16="http://schemas.microsoft.com/office/drawing/2014/main" val="172996629"/>
                  </a:ext>
                </a:extLst>
              </a:tr>
              <a:tr h="370840">
                <a:tc>
                  <a:txBody>
                    <a:bodyPr/>
                    <a:lstStyle/>
                    <a:p>
                      <a:r>
                        <a:rPr lang="en-US"/>
                        <a:t>             User</a:t>
                      </a:r>
                    </a:p>
                  </a:txBody>
                  <a:tcPr/>
                </a:tc>
                <a:tc>
                  <a:txBody>
                    <a:bodyPr/>
                    <a:lstStyle/>
                    <a:p>
                      <a:r>
                        <a:rPr lang="en-US" err="1"/>
                        <a:t>User_id</a:t>
                      </a:r>
                      <a:r>
                        <a:rPr lang="en-US"/>
                        <a:t>(PK),</a:t>
                      </a:r>
                      <a:r>
                        <a:rPr lang="en-US" err="1"/>
                        <a:t>name,email</a:t>
                      </a:r>
                      <a:endParaRPr lang="en-IN"/>
                    </a:p>
                  </a:txBody>
                  <a:tcPr/>
                </a:tc>
                <a:tc>
                  <a:txBody>
                    <a:bodyPr/>
                    <a:lstStyle/>
                    <a:p>
                      <a:r>
                        <a:rPr lang="en-US"/>
                        <a:t>User submit Queries</a:t>
                      </a:r>
                      <a:endParaRPr lang="en-IN"/>
                    </a:p>
                  </a:txBody>
                  <a:tcPr/>
                </a:tc>
                <a:extLst>
                  <a:ext uri="{0D108BD9-81ED-4DB2-BD59-A6C34878D82A}">
                    <a16:rowId xmlns="" xmlns:a16="http://schemas.microsoft.com/office/drawing/2014/main" val="2939228686"/>
                  </a:ext>
                </a:extLst>
              </a:tr>
              <a:tr h="370840">
                <a:tc>
                  <a:txBody>
                    <a:bodyPr/>
                    <a:lstStyle/>
                    <a:p>
                      <a:r>
                        <a:rPr lang="en-US"/>
                        <a:t>          Query</a:t>
                      </a:r>
                    </a:p>
                  </a:txBody>
                  <a:tcPr/>
                </a:tc>
                <a:tc>
                  <a:txBody>
                    <a:bodyPr/>
                    <a:lstStyle/>
                    <a:p>
                      <a:r>
                        <a:rPr lang="en-US" err="1"/>
                        <a:t>Query_id</a:t>
                      </a:r>
                      <a:r>
                        <a:rPr lang="en-US"/>
                        <a:t>(PK),</a:t>
                      </a:r>
                      <a:r>
                        <a:rPr lang="en-US" err="1"/>
                        <a:t>user_id</a:t>
                      </a:r>
                      <a:r>
                        <a:rPr lang="en-US"/>
                        <a:t>(FK),question</a:t>
                      </a:r>
                    </a:p>
                  </a:txBody>
                  <a:tcPr/>
                </a:tc>
                <a:tc>
                  <a:txBody>
                    <a:bodyPr/>
                    <a:lstStyle/>
                    <a:p>
                      <a:r>
                        <a:rPr lang="en-US"/>
                        <a:t>Query belongs to a User</a:t>
                      </a:r>
                      <a:endParaRPr lang="en-IN"/>
                    </a:p>
                  </a:txBody>
                  <a:tcPr/>
                </a:tc>
                <a:extLst>
                  <a:ext uri="{0D108BD9-81ED-4DB2-BD59-A6C34878D82A}">
                    <a16:rowId xmlns="" xmlns:a16="http://schemas.microsoft.com/office/drawing/2014/main" val="4202073137"/>
                  </a:ext>
                </a:extLst>
              </a:tr>
              <a:tr h="370840">
                <a:tc>
                  <a:txBody>
                    <a:bodyPr/>
                    <a:lstStyle/>
                    <a:p>
                      <a:r>
                        <a:rPr lang="en-US"/>
                        <a:t>          FAQ</a:t>
                      </a:r>
                      <a:endParaRPr lang="en-IN"/>
                    </a:p>
                  </a:txBody>
                  <a:tcPr/>
                </a:tc>
                <a:tc>
                  <a:txBody>
                    <a:bodyPr/>
                    <a:lstStyle/>
                    <a:p>
                      <a:r>
                        <a:rPr lang="en-US" err="1"/>
                        <a:t>Faq_id</a:t>
                      </a:r>
                      <a:r>
                        <a:rPr lang="en-US"/>
                        <a:t>(PK),</a:t>
                      </a:r>
                      <a:r>
                        <a:rPr lang="en-US" err="1"/>
                        <a:t>question,answer</a:t>
                      </a:r>
                      <a:endParaRPr lang="en-US"/>
                    </a:p>
                  </a:txBody>
                  <a:tcPr/>
                </a:tc>
                <a:tc>
                  <a:txBody>
                    <a:bodyPr/>
                    <a:lstStyle/>
                    <a:p>
                      <a:r>
                        <a:rPr lang="en-US"/>
                        <a:t>Query is matched with FAQ</a:t>
                      </a:r>
                      <a:endParaRPr lang="en-IN"/>
                    </a:p>
                  </a:txBody>
                  <a:tcPr/>
                </a:tc>
                <a:extLst>
                  <a:ext uri="{0D108BD9-81ED-4DB2-BD59-A6C34878D82A}">
                    <a16:rowId xmlns="" xmlns:a16="http://schemas.microsoft.com/office/drawing/2014/main" val="895556626"/>
                  </a:ext>
                </a:extLst>
              </a:tr>
              <a:tr h="370840">
                <a:tc>
                  <a:txBody>
                    <a:bodyPr/>
                    <a:lstStyle/>
                    <a:p>
                      <a:r>
                        <a:rPr lang="en-US"/>
                        <a:t>       Response</a:t>
                      </a:r>
                      <a:endParaRPr lang="en-IN"/>
                    </a:p>
                  </a:txBody>
                  <a:tcPr/>
                </a:tc>
                <a:tc>
                  <a:txBody>
                    <a:bodyPr/>
                    <a:lstStyle/>
                    <a:p>
                      <a:r>
                        <a:rPr lang="en-US" err="1"/>
                        <a:t>Response_id</a:t>
                      </a:r>
                      <a:r>
                        <a:rPr lang="en-US"/>
                        <a:t>(PK),</a:t>
                      </a:r>
                      <a:r>
                        <a:rPr lang="en-US" err="1"/>
                        <a:t>query_id</a:t>
                      </a:r>
                      <a:r>
                        <a:rPr lang="en-US"/>
                        <a:t>(FK),answer</a:t>
                      </a:r>
                      <a:endParaRPr lang="en-IN"/>
                    </a:p>
                  </a:txBody>
                  <a:tcPr/>
                </a:tc>
                <a:tc>
                  <a:txBody>
                    <a:bodyPr/>
                    <a:lstStyle/>
                    <a:p>
                      <a:r>
                        <a:rPr lang="en-US"/>
                        <a:t>Response is generated for Query</a:t>
                      </a:r>
                      <a:endParaRPr lang="en-IN"/>
                    </a:p>
                  </a:txBody>
                  <a:tcPr/>
                </a:tc>
                <a:extLst>
                  <a:ext uri="{0D108BD9-81ED-4DB2-BD59-A6C34878D82A}">
                    <a16:rowId xmlns="" xmlns:a16="http://schemas.microsoft.com/office/drawing/2014/main" val="1594430027"/>
                  </a:ext>
                </a:extLst>
              </a:tr>
              <a:tr h="370840">
                <a:tc>
                  <a:txBody>
                    <a:bodyPr/>
                    <a:lstStyle/>
                    <a:p>
                      <a:r>
                        <a:rPr lang="en-US"/>
                        <a:t>       Support Agent</a:t>
                      </a:r>
                      <a:endParaRPr lang="en-IN"/>
                    </a:p>
                  </a:txBody>
                  <a:tcPr/>
                </a:tc>
                <a:tc>
                  <a:txBody>
                    <a:bodyPr/>
                    <a:lstStyle/>
                    <a:p>
                      <a:r>
                        <a:rPr lang="en-US" err="1"/>
                        <a:t>Agent_id</a:t>
                      </a:r>
                      <a:r>
                        <a:rPr lang="en-US"/>
                        <a:t>(PK),name</a:t>
                      </a:r>
                      <a:endParaRPr lang="en-IN"/>
                    </a:p>
                  </a:txBody>
                  <a:tcPr/>
                </a:tc>
                <a:tc>
                  <a:txBody>
                    <a:bodyPr/>
                    <a:lstStyle/>
                    <a:p>
                      <a:r>
                        <a:rPr lang="en-US"/>
                        <a:t>Agent handles unresolved Queries</a:t>
                      </a:r>
                      <a:endParaRPr lang="en-IN"/>
                    </a:p>
                  </a:txBody>
                  <a:tcPr/>
                </a:tc>
                <a:extLst>
                  <a:ext uri="{0D108BD9-81ED-4DB2-BD59-A6C34878D82A}">
                    <a16:rowId xmlns="" xmlns:a16="http://schemas.microsoft.com/office/drawing/2014/main" val="2855089201"/>
                  </a:ext>
                </a:extLst>
              </a:tr>
            </a:tbl>
          </a:graphicData>
        </a:graphic>
      </p:graphicFrame>
    </p:spTree>
    <p:extLst>
      <p:ext uri="{BB962C8B-B14F-4D97-AF65-F5344CB8AC3E}">
        <p14:creationId xmlns="" xmlns:p14="http://schemas.microsoft.com/office/powerpoint/2010/main" val="1044939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 xmlns:a16="http://schemas.microsoft.com/office/drawing/2014/main" id="{FDA21762-05E5-FC01-D5EC-4458A1CCB822}"/>
              </a:ext>
            </a:extLst>
          </p:cNvPr>
          <p:cNvSpPr txBox="1"/>
          <p:nvPr/>
        </p:nvSpPr>
        <p:spPr>
          <a:xfrm>
            <a:off x="540774" y="91143"/>
            <a:ext cx="11051458" cy="2585323"/>
          </a:xfrm>
          <a:prstGeom prst="rect">
            <a:avLst/>
          </a:prstGeom>
          <a:noFill/>
        </p:spPr>
        <p:txBody>
          <a:bodyPr wrap="square">
            <a:spAutoFit/>
          </a:bodyPr>
          <a:lstStyle/>
          <a:p>
            <a:r>
              <a:rPr lang="en-IN" b="1"/>
              <a:t>Key Features:</a:t>
            </a:r>
          </a:p>
          <a:p>
            <a:r>
              <a:rPr lang="en-IN" b="1"/>
              <a:t>        AI-Powered Responses</a:t>
            </a:r>
            <a:r>
              <a:rPr lang="en-IN"/>
              <a:t> – Automatically understands customer questions and provides relevant answers.</a:t>
            </a:r>
          </a:p>
          <a:p>
            <a:pPr lvl="0"/>
            <a:r>
              <a:rPr lang="en-IN" b="1"/>
              <a:t>       24/7 Availability</a:t>
            </a:r>
            <a:r>
              <a:rPr lang="en-IN"/>
              <a:t> – Provides customer support at any time.</a:t>
            </a:r>
          </a:p>
          <a:p>
            <a:pPr lvl="0"/>
            <a:r>
              <a:rPr lang="en-IN" b="1"/>
              <a:t>       Natural Language Processing</a:t>
            </a:r>
            <a:r>
              <a:rPr lang="en-IN"/>
              <a:t> – Understands questions written in normal human language.</a:t>
            </a:r>
          </a:p>
          <a:p>
            <a:pPr lvl="0"/>
            <a:r>
              <a:rPr lang="en-IN" b="1"/>
              <a:t>        Instant FAQ Search</a:t>
            </a:r>
            <a:r>
              <a:rPr lang="en-IN"/>
              <a:t> – Quickly searches the FAQ knowledge base for suitable answers.</a:t>
            </a:r>
          </a:p>
          <a:p>
            <a:pPr lvl="0"/>
            <a:r>
              <a:rPr lang="en-IN" b="1"/>
              <a:t>       User-Friendly Chat Interface</a:t>
            </a:r>
            <a:r>
              <a:rPr lang="en-IN"/>
              <a:t> – Allows customers to interact easily through a simple chat system.</a:t>
            </a:r>
          </a:p>
          <a:p>
            <a:pPr lvl="0"/>
            <a:r>
              <a:rPr lang="en-IN" b="1"/>
              <a:t>       Human Agent Support</a:t>
            </a:r>
            <a:r>
              <a:rPr lang="en-IN"/>
              <a:t> – Transfers complex or unanswered queries to a support agent.</a:t>
            </a:r>
          </a:p>
          <a:p>
            <a:r>
              <a:rPr lang="en-IN"/>
              <a:t/>
            </a:r>
            <a:br>
              <a:rPr lang="en-IN"/>
            </a:br>
            <a:endParaRPr lang="en-IN"/>
          </a:p>
        </p:txBody>
      </p:sp>
      <p:sp>
        <p:nvSpPr>
          <p:cNvPr id="16" name="TextBox 15">
            <a:extLst>
              <a:ext uri="{FF2B5EF4-FFF2-40B4-BE49-F238E27FC236}">
                <a16:creationId xmlns="" xmlns:a16="http://schemas.microsoft.com/office/drawing/2014/main" id="{58A6C916-703F-9758-9C54-7CBED3E0827C}"/>
              </a:ext>
            </a:extLst>
          </p:cNvPr>
          <p:cNvSpPr txBox="1"/>
          <p:nvPr/>
        </p:nvSpPr>
        <p:spPr>
          <a:xfrm>
            <a:off x="540774" y="2403310"/>
            <a:ext cx="6096000" cy="369332"/>
          </a:xfrm>
          <a:prstGeom prst="rect">
            <a:avLst/>
          </a:prstGeom>
          <a:noFill/>
        </p:spPr>
        <p:txBody>
          <a:bodyPr wrap="square">
            <a:spAutoFit/>
          </a:bodyPr>
          <a:lstStyle/>
          <a:p>
            <a:pPr indent="0" algn="l" rtl="0">
              <a:buNone/>
            </a:pPr>
            <a:r>
              <a:rPr lang="en-IN" b="1" i="0">
                <a:solidFill>
                  <a:schemeClr val="tx1"/>
                </a:solidFill>
                <a:effectLst/>
                <a:latin typeface="+mn-lt"/>
              </a:rPr>
              <a:t>Roles and Responsibilities</a:t>
            </a:r>
            <a:endParaRPr lang="en-IN" b="1" i="0">
              <a:solidFill>
                <a:srgbClr val="0D0D0D"/>
              </a:solidFill>
              <a:effectLst/>
              <a:latin typeface="-apple-system-body"/>
            </a:endParaRPr>
          </a:p>
        </p:txBody>
      </p:sp>
      <p:sp>
        <p:nvSpPr>
          <p:cNvPr id="18" name="TextBox 17">
            <a:extLst>
              <a:ext uri="{FF2B5EF4-FFF2-40B4-BE49-F238E27FC236}">
                <a16:creationId xmlns="" xmlns:a16="http://schemas.microsoft.com/office/drawing/2014/main" id="{7E02E328-FA42-639D-6D21-8C299D79BD1C}"/>
              </a:ext>
            </a:extLst>
          </p:cNvPr>
          <p:cNvSpPr txBox="1"/>
          <p:nvPr/>
        </p:nvSpPr>
        <p:spPr>
          <a:xfrm>
            <a:off x="1140541" y="2847962"/>
            <a:ext cx="6213987" cy="1507727"/>
          </a:xfrm>
          <a:prstGeom prst="rect">
            <a:avLst/>
          </a:prstGeom>
          <a:noFill/>
        </p:spPr>
        <p:txBody>
          <a:bodyPr wrap="square">
            <a:spAutoFit/>
          </a:bodyPr>
          <a:lstStyle/>
          <a:p>
            <a:pPr indent="0" algn="l" rtl="0">
              <a:buNone/>
            </a:pPr>
            <a:r>
              <a:rPr lang="en-IN" b="1" i="0">
                <a:solidFill>
                  <a:schemeClr val="tx1"/>
                </a:solidFill>
                <a:effectLst/>
                <a:latin typeface="+mn-lt"/>
              </a:rPr>
              <a:t>1. Admin</a:t>
            </a:r>
          </a:p>
          <a:p>
            <a:pPr marL="342900" lvl="0" indent="-342900" algn="l" rtl="0">
              <a:buFont typeface="Arial" panose="020B0604020202020204" pitchFamily="34" charset="0"/>
              <a:buChar char="•"/>
            </a:pPr>
            <a:r>
              <a:rPr lang="en-IN" sz="1800" b="0" i="0">
                <a:solidFill>
                  <a:schemeClr val="tx1"/>
                </a:solidFill>
                <a:effectLst/>
                <a:latin typeface="+mn-lt"/>
              </a:rPr>
              <a:t>Manage and update the FAQ knowledge base.</a:t>
            </a:r>
          </a:p>
          <a:p>
            <a:pPr marL="342900" lvl="0" indent="-342900" algn="l" rtl="0">
              <a:buFont typeface="Arial" panose="020B0604020202020204" pitchFamily="34" charset="0"/>
              <a:buChar char="•"/>
            </a:pPr>
            <a:r>
              <a:rPr lang="en-IN" sz="1800" b="0" i="0">
                <a:solidFill>
                  <a:schemeClr val="tx1"/>
                </a:solidFill>
                <a:effectLst/>
                <a:latin typeface="+mn-lt"/>
              </a:rPr>
              <a:t>Add, edit, and delete FAQ questions and answers.</a:t>
            </a:r>
          </a:p>
          <a:p>
            <a:pPr marL="342900" lvl="0" indent="-342900" algn="l" rtl="0">
              <a:buFont typeface="Arial" panose="020B0604020202020204" pitchFamily="34" charset="0"/>
              <a:buChar char="•"/>
            </a:pPr>
            <a:r>
              <a:rPr lang="en-IN" sz="1800" b="0" i="0">
                <a:solidFill>
                  <a:schemeClr val="tx1"/>
                </a:solidFill>
                <a:effectLst/>
                <a:latin typeface="+mn-lt"/>
              </a:rPr>
              <a:t>Monitor system performance and user queries.</a:t>
            </a:r>
          </a:p>
          <a:p>
            <a:pPr marL="342900" lvl="0" indent="-342900" algn="l" rtl="0">
              <a:buFont typeface="Arial" panose="020B0604020202020204" pitchFamily="34" charset="0"/>
              <a:buChar char="•"/>
            </a:pPr>
            <a:r>
              <a:rPr lang="en-IN" sz="1800" b="0" i="0">
                <a:solidFill>
                  <a:schemeClr val="tx1"/>
                </a:solidFill>
                <a:effectLst/>
                <a:latin typeface="+mn-lt"/>
              </a:rPr>
              <a:t>Manage support-agent information.</a:t>
            </a:r>
            <a:endParaRPr lang="en-IN" sz="1200" b="0" i="0">
              <a:solidFill>
                <a:srgbClr val="0D0D0D"/>
              </a:solidFill>
              <a:effectLst/>
              <a:latin typeface="-apple-system-body"/>
            </a:endParaRPr>
          </a:p>
        </p:txBody>
      </p:sp>
      <p:sp>
        <p:nvSpPr>
          <p:cNvPr id="20" name="TextBox 19">
            <a:extLst>
              <a:ext uri="{FF2B5EF4-FFF2-40B4-BE49-F238E27FC236}">
                <a16:creationId xmlns="" xmlns:a16="http://schemas.microsoft.com/office/drawing/2014/main" id="{89149887-7309-D18C-2D0E-A3FAE187826B}"/>
              </a:ext>
            </a:extLst>
          </p:cNvPr>
          <p:cNvSpPr txBox="1"/>
          <p:nvPr/>
        </p:nvSpPr>
        <p:spPr>
          <a:xfrm>
            <a:off x="1140541" y="4355689"/>
            <a:ext cx="6096000" cy="1107996"/>
          </a:xfrm>
          <a:prstGeom prst="rect">
            <a:avLst/>
          </a:prstGeom>
          <a:noFill/>
        </p:spPr>
        <p:txBody>
          <a:bodyPr wrap="square">
            <a:spAutoFit/>
          </a:bodyPr>
          <a:lstStyle/>
          <a:p>
            <a:pPr indent="0" algn="l" rtl="0">
              <a:buNone/>
            </a:pPr>
            <a:r>
              <a:rPr lang="en-IN" b="1" i="0">
                <a:solidFill>
                  <a:schemeClr val="tx1"/>
                </a:solidFill>
                <a:effectLst/>
                <a:latin typeface="+mn-lt"/>
              </a:rPr>
              <a:t>2. User / Customer</a:t>
            </a:r>
          </a:p>
          <a:p>
            <a:pPr marL="342900" lvl="0" indent="-342900" algn="l" rtl="0">
              <a:buFont typeface="Arial" panose="020B0604020202020204" pitchFamily="34" charset="0"/>
              <a:buChar char="•"/>
            </a:pPr>
            <a:r>
              <a:rPr lang="en-IN" sz="1800" b="0" i="0">
                <a:solidFill>
                  <a:schemeClr val="tx1"/>
                </a:solidFill>
                <a:effectLst/>
                <a:latin typeface="+mn-lt"/>
              </a:rPr>
              <a:t>Enter questions through the AI chat interface.</a:t>
            </a:r>
          </a:p>
          <a:p>
            <a:pPr marL="342900" lvl="0" indent="-342900" algn="l" rtl="0">
              <a:buFont typeface="Arial" panose="020B0604020202020204" pitchFamily="34" charset="0"/>
              <a:buChar char="•"/>
            </a:pPr>
            <a:r>
              <a:rPr lang="en-IN" sz="1800" b="0" i="0">
                <a:solidFill>
                  <a:schemeClr val="tx1"/>
                </a:solidFill>
                <a:effectLst/>
                <a:latin typeface="+mn-lt"/>
              </a:rPr>
              <a:t>View AI-generated answers.</a:t>
            </a:r>
          </a:p>
          <a:p>
            <a:pPr marL="342900" lvl="0" indent="-342900" algn="l" rtl="0">
              <a:buFont typeface="Arial" panose="020B0604020202020204" pitchFamily="34" charset="0"/>
              <a:buChar char="•"/>
            </a:pPr>
            <a:r>
              <a:rPr lang="en-IN" sz="1800" b="0" i="0">
                <a:solidFill>
                  <a:schemeClr val="tx1"/>
                </a:solidFill>
                <a:effectLst/>
                <a:latin typeface="+mn-lt"/>
              </a:rPr>
              <a:t>Submit follow-up questions.</a:t>
            </a:r>
          </a:p>
          <a:p>
            <a:pPr marL="342900" lvl="0" indent="-342900" algn="l" rtl="0">
              <a:buFont typeface="Arial" panose="020B0604020202020204" pitchFamily="34" charset="0"/>
              <a:buChar char="•"/>
            </a:pPr>
            <a:r>
              <a:rPr lang="en-IN" sz="1800" b="0" i="0">
                <a:solidFill>
                  <a:schemeClr val="tx1"/>
                </a:solidFill>
                <a:effectLst/>
                <a:latin typeface="+mn-lt"/>
              </a:rPr>
              <a:t>Contact a support agent when required.</a:t>
            </a:r>
            <a:endParaRPr lang="en-IN" sz="1200" b="0" i="0">
              <a:solidFill>
                <a:srgbClr val="0D0D0D"/>
              </a:solidFill>
              <a:effectLst/>
              <a:latin typeface="-apple-system-body"/>
            </a:endParaRPr>
          </a:p>
        </p:txBody>
      </p:sp>
    </p:spTree>
    <p:extLst>
      <p:ext uri="{BB962C8B-B14F-4D97-AF65-F5344CB8AC3E}">
        <p14:creationId xmlns="" xmlns:p14="http://schemas.microsoft.com/office/powerpoint/2010/main" val="1433866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C36B78CF-1762-8DEF-627E-19D19D7749D3}"/>
              </a:ext>
            </a:extLst>
          </p:cNvPr>
          <p:cNvSpPr txBox="1"/>
          <p:nvPr/>
        </p:nvSpPr>
        <p:spPr>
          <a:xfrm>
            <a:off x="914400" y="130020"/>
            <a:ext cx="8573729" cy="3416320"/>
          </a:xfrm>
          <a:prstGeom prst="rect">
            <a:avLst/>
          </a:prstGeom>
          <a:noFill/>
        </p:spPr>
        <p:txBody>
          <a:bodyPr wrap="square">
            <a:spAutoFit/>
          </a:bodyPr>
          <a:lstStyle/>
          <a:p>
            <a:pPr indent="0" algn="l" rtl="0">
              <a:buNone/>
            </a:pPr>
            <a:r>
              <a:rPr lang="en-IN" b="1" i="0">
                <a:solidFill>
                  <a:schemeClr val="tx1"/>
                </a:solidFill>
                <a:effectLst/>
                <a:latin typeface="+mn-lt"/>
              </a:rPr>
              <a:t>3. AI Assistant</a:t>
            </a:r>
          </a:p>
          <a:p>
            <a:pPr marL="342900" lvl="0" indent="-342900" algn="l" rtl="0">
              <a:buFont typeface="Arial" panose="020B0604020202020204" pitchFamily="34" charset="0"/>
              <a:buChar char="•"/>
            </a:pPr>
            <a:r>
              <a:rPr lang="en-IN" sz="1800" b="0" i="0">
                <a:solidFill>
                  <a:schemeClr val="tx1"/>
                </a:solidFill>
                <a:effectLst/>
                <a:latin typeface="+mn-lt"/>
              </a:rPr>
              <a:t>Understand user queries using NLP.</a:t>
            </a:r>
          </a:p>
          <a:p>
            <a:pPr marL="342900" lvl="0" indent="-342900" algn="l" rtl="0">
              <a:buFont typeface="Arial" panose="020B0604020202020204" pitchFamily="34" charset="0"/>
              <a:buChar char="•"/>
            </a:pPr>
            <a:r>
              <a:rPr lang="en-IN" sz="1800" b="0" i="0">
                <a:solidFill>
                  <a:schemeClr val="tx1"/>
                </a:solidFill>
                <a:effectLst/>
                <a:latin typeface="+mn-lt"/>
              </a:rPr>
              <a:t>Identify the user's intent.</a:t>
            </a:r>
          </a:p>
          <a:p>
            <a:pPr marL="342900" lvl="0" indent="-342900" algn="l" rtl="0">
              <a:buFont typeface="Arial" panose="020B0604020202020204" pitchFamily="34" charset="0"/>
              <a:buChar char="•"/>
            </a:pPr>
            <a:r>
              <a:rPr lang="en-IN" sz="1800" b="0" i="0">
                <a:solidFill>
                  <a:schemeClr val="tx1"/>
                </a:solidFill>
                <a:effectLst/>
                <a:latin typeface="+mn-lt"/>
              </a:rPr>
              <a:t>Search the FAQ knowledge base.</a:t>
            </a:r>
          </a:p>
          <a:p>
            <a:pPr marL="342900" lvl="0" indent="-342900" algn="l" rtl="0">
              <a:buFont typeface="Arial" panose="020B0604020202020204" pitchFamily="34" charset="0"/>
              <a:buChar char="•"/>
            </a:pPr>
            <a:r>
              <a:rPr lang="en-IN" sz="1800" b="0" i="0">
                <a:solidFill>
                  <a:schemeClr val="tx1"/>
                </a:solidFill>
                <a:effectLst/>
                <a:latin typeface="+mn-lt"/>
              </a:rPr>
              <a:t>Generate relevant responses.</a:t>
            </a:r>
          </a:p>
          <a:p>
            <a:pPr marL="342900" lvl="0" indent="-342900" algn="l" rtl="0">
              <a:buFont typeface="Arial" panose="020B0604020202020204" pitchFamily="34" charset="0"/>
              <a:buChar char="•"/>
            </a:pPr>
            <a:r>
              <a:rPr lang="en-IN" sz="1800" b="0" i="0">
                <a:solidFill>
                  <a:schemeClr val="tx1"/>
                </a:solidFill>
                <a:effectLst/>
                <a:latin typeface="+mn-lt"/>
              </a:rPr>
              <a:t>Identify unanswered or complex queries.</a:t>
            </a:r>
          </a:p>
          <a:p>
            <a:pPr marL="342900" lvl="0" indent="-342900" algn="l" rtl="0">
              <a:buFont typeface="Arial" panose="020B0604020202020204" pitchFamily="34" charset="0"/>
              <a:buChar char="•"/>
            </a:pPr>
            <a:r>
              <a:rPr lang="en-IN" sz="1800" b="0" i="0">
                <a:solidFill>
                  <a:schemeClr val="tx1"/>
                </a:solidFill>
                <a:effectLst/>
                <a:latin typeface="+mn-lt"/>
              </a:rPr>
              <a:t>Forward complex queries to a human support agent</a:t>
            </a:r>
          </a:p>
          <a:p>
            <a:pPr indent="0" algn="l" rtl="0">
              <a:buNone/>
            </a:pPr>
            <a:r>
              <a:rPr lang="en-IN" b="1" i="0">
                <a:solidFill>
                  <a:schemeClr val="tx1"/>
                </a:solidFill>
                <a:effectLst/>
                <a:latin typeface="+mn-lt"/>
              </a:rPr>
              <a:t>4. Support Agent</a:t>
            </a:r>
          </a:p>
          <a:p>
            <a:pPr marL="342900" lvl="0" indent="-342900" algn="l" rtl="0">
              <a:buFont typeface="Arial" panose="020B0604020202020204" pitchFamily="34" charset="0"/>
              <a:buChar char="•"/>
            </a:pPr>
            <a:r>
              <a:rPr lang="en-IN" sz="1800" b="0" i="0">
                <a:solidFill>
                  <a:schemeClr val="tx1"/>
                </a:solidFill>
                <a:effectLst/>
                <a:latin typeface="+mn-lt"/>
              </a:rPr>
              <a:t>Handle queries that cannot be resolved by the AI.</a:t>
            </a:r>
          </a:p>
          <a:p>
            <a:pPr marL="342900" lvl="0" indent="-342900" algn="l" rtl="0">
              <a:buFont typeface="Arial" panose="020B0604020202020204" pitchFamily="34" charset="0"/>
              <a:buChar char="•"/>
            </a:pPr>
            <a:r>
              <a:rPr lang="en-IN" sz="1800" b="0" i="0">
                <a:solidFill>
                  <a:schemeClr val="tx1"/>
                </a:solidFill>
                <a:effectLst/>
                <a:latin typeface="+mn-lt"/>
              </a:rPr>
              <a:t>Provide personalized solutions to customers.</a:t>
            </a:r>
          </a:p>
          <a:p>
            <a:pPr marL="342900" lvl="0" indent="-342900" algn="l" rtl="0">
              <a:buFont typeface="Arial" panose="020B0604020202020204" pitchFamily="34" charset="0"/>
              <a:buChar char="•"/>
            </a:pPr>
            <a:r>
              <a:rPr lang="en-IN" sz="1800" b="0" i="0">
                <a:solidFill>
                  <a:schemeClr val="tx1"/>
                </a:solidFill>
                <a:effectLst/>
                <a:latin typeface="+mn-lt"/>
              </a:rPr>
              <a:t>Review unresolved queries.</a:t>
            </a:r>
          </a:p>
          <a:p>
            <a:pPr marL="342900" lvl="0" indent="-342900" algn="l" rtl="0">
              <a:buFont typeface="Arial" panose="020B0604020202020204" pitchFamily="34" charset="0"/>
              <a:buChar char="•"/>
            </a:pPr>
            <a:r>
              <a:rPr lang="en-IN" sz="1800" b="0" i="0">
                <a:solidFill>
                  <a:schemeClr val="tx1"/>
                </a:solidFill>
                <a:effectLst/>
                <a:latin typeface="+mn-lt"/>
              </a:rPr>
              <a:t>Update the FAQ knowledge base with useful new information.</a:t>
            </a:r>
            <a:endParaRPr lang="en-IN" sz="1200" b="0" i="0">
              <a:solidFill>
                <a:srgbClr val="0D0D0D"/>
              </a:solidFill>
              <a:effectLst/>
              <a:latin typeface="-apple-system-body"/>
            </a:endParaRPr>
          </a:p>
        </p:txBody>
      </p:sp>
      <p:sp>
        <p:nvSpPr>
          <p:cNvPr id="7" name="TextBox 6">
            <a:extLst>
              <a:ext uri="{FF2B5EF4-FFF2-40B4-BE49-F238E27FC236}">
                <a16:creationId xmlns="" xmlns:a16="http://schemas.microsoft.com/office/drawing/2014/main" id="{0ABE5BF5-65D4-B068-C340-723112CFBF80}"/>
              </a:ext>
            </a:extLst>
          </p:cNvPr>
          <p:cNvSpPr txBox="1"/>
          <p:nvPr/>
        </p:nvSpPr>
        <p:spPr>
          <a:xfrm>
            <a:off x="914400" y="3688080"/>
            <a:ext cx="9235440" cy="2585323"/>
          </a:xfrm>
          <a:prstGeom prst="rect">
            <a:avLst/>
          </a:prstGeom>
          <a:noFill/>
        </p:spPr>
        <p:txBody>
          <a:bodyPr wrap="square">
            <a:spAutoFit/>
          </a:bodyPr>
          <a:lstStyle/>
          <a:p>
            <a:pPr indent="0" algn="l" rtl="0">
              <a:buNone/>
            </a:pPr>
            <a:r>
              <a:rPr lang="en-IN" b="1" i="0">
                <a:solidFill>
                  <a:schemeClr val="tx1"/>
                </a:solidFill>
                <a:effectLst/>
                <a:latin typeface="+mn-lt"/>
              </a:rPr>
              <a:t>Flow Steps</a:t>
            </a:r>
          </a:p>
          <a:p>
            <a:pPr marL="342900" lvl="0" indent="-342900" algn="l" rtl="0">
              <a:buFont typeface="+mj-lt"/>
              <a:buAutoNum type="arabicPeriod"/>
            </a:pPr>
            <a:r>
              <a:rPr lang="en-IN" sz="1800" b="1" i="0">
                <a:solidFill>
                  <a:schemeClr val="tx1"/>
                </a:solidFill>
                <a:effectLst/>
                <a:latin typeface="+mn-lt"/>
              </a:rPr>
              <a:t>Start</a:t>
            </a:r>
            <a:r>
              <a:rPr lang="en-IN" sz="1800" b="0" i="0">
                <a:solidFill>
                  <a:schemeClr val="tx1"/>
                </a:solidFill>
                <a:effectLst/>
                <a:latin typeface="+mn-lt"/>
              </a:rPr>
              <a:t> – User opens the AI FAQ Assistant.</a:t>
            </a:r>
          </a:p>
          <a:p>
            <a:pPr marL="342900" lvl="0" indent="-342900" algn="l" rtl="0">
              <a:buFont typeface="+mj-lt"/>
              <a:buAutoNum type="arabicPeriod"/>
            </a:pPr>
            <a:r>
              <a:rPr lang="en-IN" sz="1800" b="1" i="0">
                <a:solidFill>
                  <a:schemeClr val="tx1"/>
                </a:solidFill>
                <a:effectLst/>
                <a:latin typeface="+mn-lt"/>
              </a:rPr>
              <a:t>Enter Query</a:t>
            </a:r>
            <a:r>
              <a:rPr lang="en-IN" sz="1800" b="0" i="0">
                <a:solidFill>
                  <a:schemeClr val="tx1"/>
                </a:solidFill>
                <a:effectLst/>
                <a:latin typeface="+mn-lt"/>
              </a:rPr>
              <a:t> – User types a question.</a:t>
            </a:r>
          </a:p>
          <a:p>
            <a:pPr marL="342900" lvl="0" indent="-342900" algn="l" rtl="0">
              <a:buFont typeface="+mj-lt"/>
              <a:buAutoNum type="arabicPeriod"/>
            </a:pPr>
            <a:r>
              <a:rPr lang="en-IN" sz="1800" b="1" i="0">
                <a:solidFill>
                  <a:schemeClr val="tx1"/>
                </a:solidFill>
                <a:effectLst/>
                <a:latin typeface="+mn-lt"/>
              </a:rPr>
              <a:t>Query Processing</a:t>
            </a:r>
            <a:r>
              <a:rPr lang="en-IN" sz="1800" b="0" i="0">
                <a:solidFill>
                  <a:schemeClr val="tx1"/>
                </a:solidFill>
                <a:effectLst/>
                <a:latin typeface="+mn-lt"/>
              </a:rPr>
              <a:t> – AI </a:t>
            </a:r>
            <a:r>
              <a:rPr lang="en-IN" sz="1800" b="0" i="0" err="1">
                <a:solidFill>
                  <a:schemeClr val="tx1"/>
                </a:solidFill>
                <a:effectLst/>
                <a:latin typeface="+mn-lt"/>
              </a:rPr>
              <a:t>analyzes</a:t>
            </a:r>
            <a:r>
              <a:rPr lang="en-IN" sz="1800" b="0" i="0">
                <a:solidFill>
                  <a:schemeClr val="tx1"/>
                </a:solidFill>
                <a:effectLst/>
                <a:latin typeface="+mn-lt"/>
              </a:rPr>
              <a:t> and understands the question.</a:t>
            </a:r>
          </a:p>
          <a:p>
            <a:pPr marL="342900" lvl="0" indent="-342900" algn="l" rtl="0">
              <a:buFont typeface="+mj-lt"/>
              <a:buAutoNum type="arabicPeriod"/>
            </a:pPr>
            <a:r>
              <a:rPr lang="en-IN" sz="1800" b="1" i="0">
                <a:solidFill>
                  <a:schemeClr val="tx1"/>
                </a:solidFill>
                <a:effectLst/>
                <a:latin typeface="+mn-lt"/>
              </a:rPr>
              <a:t>FAQ Search</a:t>
            </a:r>
            <a:r>
              <a:rPr lang="en-IN" sz="1800" b="0" i="0">
                <a:solidFill>
                  <a:schemeClr val="tx1"/>
                </a:solidFill>
                <a:effectLst/>
                <a:latin typeface="+mn-lt"/>
              </a:rPr>
              <a:t> – System searches the FAQ knowledge base.</a:t>
            </a:r>
          </a:p>
          <a:p>
            <a:pPr marL="342900" lvl="0" indent="-342900" algn="l" rtl="0">
              <a:buFont typeface="+mj-lt"/>
              <a:buAutoNum type="arabicPeriod"/>
            </a:pPr>
            <a:r>
              <a:rPr lang="en-IN" sz="1800" b="1" i="0">
                <a:solidFill>
                  <a:schemeClr val="tx1"/>
                </a:solidFill>
                <a:effectLst/>
                <a:latin typeface="+mn-lt"/>
              </a:rPr>
              <a:t>Answer Available</a:t>
            </a:r>
            <a:r>
              <a:rPr lang="en-IN" sz="1800" b="0" i="0">
                <a:solidFill>
                  <a:schemeClr val="tx1"/>
                </a:solidFill>
                <a:effectLst/>
                <a:latin typeface="+mn-lt"/>
              </a:rPr>
              <a:t> – If a suitable answer is found, it is displayed to the user.</a:t>
            </a:r>
          </a:p>
          <a:p>
            <a:pPr marL="342900" lvl="0" indent="-342900" algn="l" rtl="0">
              <a:buFont typeface="+mj-lt"/>
              <a:buAutoNum type="arabicPeriod"/>
            </a:pPr>
            <a:r>
              <a:rPr lang="en-IN" sz="1800" b="1" i="0">
                <a:solidFill>
                  <a:schemeClr val="tx1"/>
                </a:solidFill>
                <a:effectLst/>
                <a:latin typeface="+mn-lt"/>
              </a:rPr>
              <a:t>No Answer</a:t>
            </a:r>
            <a:r>
              <a:rPr lang="en-IN" sz="1800" b="0" i="0">
                <a:solidFill>
                  <a:schemeClr val="tx1"/>
                </a:solidFill>
                <a:effectLst/>
                <a:latin typeface="+mn-lt"/>
              </a:rPr>
              <a:t> – If no suitable answer is found, the query is forwarded to a support agent.</a:t>
            </a:r>
          </a:p>
          <a:p>
            <a:pPr marL="342900" lvl="0" indent="-342900" algn="l" rtl="0">
              <a:buFont typeface="+mj-lt"/>
              <a:buAutoNum type="arabicPeriod"/>
            </a:pPr>
            <a:r>
              <a:rPr lang="en-IN" sz="1800" b="1" i="0">
                <a:solidFill>
                  <a:schemeClr val="tx1"/>
                </a:solidFill>
                <a:effectLst/>
                <a:latin typeface="+mn-lt"/>
              </a:rPr>
              <a:t>Solution</a:t>
            </a:r>
            <a:r>
              <a:rPr lang="en-IN" sz="1800" b="0" i="0">
                <a:solidFill>
                  <a:schemeClr val="tx1"/>
                </a:solidFill>
                <a:effectLst/>
                <a:latin typeface="+mn-lt"/>
              </a:rPr>
              <a:t> – User receives the required information or solution.</a:t>
            </a:r>
          </a:p>
          <a:p>
            <a:pPr marL="342900" lvl="0" indent="-342900" algn="l" rtl="0">
              <a:buFont typeface="+mj-lt"/>
              <a:buAutoNum type="arabicPeriod"/>
            </a:pPr>
            <a:r>
              <a:rPr lang="en-IN" sz="1800" b="1" i="0">
                <a:solidFill>
                  <a:schemeClr val="tx1"/>
                </a:solidFill>
                <a:effectLst/>
                <a:latin typeface="+mn-lt"/>
              </a:rPr>
              <a:t>End</a:t>
            </a:r>
            <a:r>
              <a:rPr lang="en-IN" sz="1800" b="0" i="0">
                <a:solidFill>
                  <a:schemeClr val="tx1"/>
                </a:solidFill>
                <a:effectLst/>
                <a:latin typeface="+mn-lt"/>
              </a:rPr>
              <a:t> – User can close the chat or ask another question.</a:t>
            </a:r>
            <a:endParaRPr lang="en-IN" sz="1200" b="0" i="0">
              <a:solidFill>
                <a:srgbClr val="0D0D0D"/>
              </a:solidFill>
              <a:effectLst/>
              <a:latin typeface="-apple-system-body"/>
            </a:endParaRPr>
          </a:p>
        </p:txBody>
      </p:sp>
    </p:spTree>
    <p:extLst>
      <p:ext uri="{BB962C8B-B14F-4D97-AF65-F5344CB8AC3E}">
        <p14:creationId xmlns="" xmlns:p14="http://schemas.microsoft.com/office/powerpoint/2010/main" val="3055098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58D5B5CD-01F4-7A9C-0F7A-E904F483FB5F}"/>
              </a:ext>
            </a:extLst>
          </p:cNvPr>
          <p:cNvPicPr>
            <a:picLocks noChangeAspect="1"/>
          </p:cNvPicPr>
          <p:nvPr/>
        </p:nvPicPr>
        <p:blipFill>
          <a:blip r:embed="rId2"/>
          <a:stretch>
            <a:fillRect/>
          </a:stretch>
        </p:blipFill>
        <p:spPr>
          <a:xfrm>
            <a:off x="2343833" y="0"/>
            <a:ext cx="7504334" cy="6858000"/>
          </a:xfrm>
          <a:prstGeom prst="rect">
            <a:avLst/>
          </a:prstGeom>
        </p:spPr>
      </p:pic>
    </p:spTree>
    <p:extLst>
      <p:ext uri="{BB962C8B-B14F-4D97-AF65-F5344CB8AC3E}">
        <p14:creationId xmlns="" xmlns:p14="http://schemas.microsoft.com/office/powerpoint/2010/main" val="3227091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F6079220-429B-94DD-8A97-880908D4FEA2}"/>
              </a:ext>
            </a:extLst>
          </p:cNvPr>
          <p:cNvSpPr txBox="1"/>
          <p:nvPr/>
        </p:nvSpPr>
        <p:spPr>
          <a:xfrm>
            <a:off x="436880" y="15240"/>
            <a:ext cx="6096000" cy="230832"/>
          </a:xfrm>
          <a:prstGeom prst="rect">
            <a:avLst/>
          </a:prstGeom>
          <a:noFill/>
        </p:spPr>
        <p:txBody>
          <a:bodyPr wrap="square">
            <a:spAutoFit/>
          </a:bodyPr>
          <a:lstStyle/>
          <a:p>
            <a:r>
              <a:rPr lang="en-IN" sz="1800" b="1" i="0" cap="all" spc="72">
                <a:effectLst/>
                <a:latin typeface="+mn-lt"/>
              </a:rPr>
              <a:t>MVP Architecture</a:t>
            </a:r>
            <a:endParaRPr lang="en-IN"/>
          </a:p>
        </p:txBody>
      </p:sp>
      <p:sp>
        <p:nvSpPr>
          <p:cNvPr id="5" name="Rectangle: Rounded Corners 4">
            <a:extLst>
              <a:ext uri="{FF2B5EF4-FFF2-40B4-BE49-F238E27FC236}">
                <a16:creationId xmlns="" xmlns:a16="http://schemas.microsoft.com/office/drawing/2014/main" id="{9CF149E0-EB62-3C6E-5F53-E22231F7720A}"/>
              </a:ext>
            </a:extLst>
          </p:cNvPr>
          <p:cNvSpPr/>
          <p:nvPr/>
        </p:nvSpPr>
        <p:spPr>
          <a:xfrm>
            <a:off x="1320800" y="513080"/>
            <a:ext cx="2885440" cy="1102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 xmlns:a16="http://schemas.microsoft.com/office/drawing/2014/main" id="{57ED7991-BA47-53A8-90B4-837727015D2E}"/>
              </a:ext>
            </a:extLst>
          </p:cNvPr>
          <p:cNvSpPr txBox="1"/>
          <p:nvPr/>
        </p:nvSpPr>
        <p:spPr>
          <a:xfrm>
            <a:off x="1625600" y="602595"/>
            <a:ext cx="2885440" cy="923330"/>
          </a:xfrm>
          <a:prstGeom prst="rect">
            <a:avLst/>
          </a:prstGeom>
          <a:noFill/>
        </p:spPr>
        <p:txBody>
          <a:bodyPr wrap="square">
            <a:spAutoFit/>
          </a:bodyPr>
          <a:lstStyle/>
          <a:p>
            <a:r>
              <a:rPr lang="en-IN" sz="1800" b="1">
                <a:solidFill>
                  <a:schemeClr val="bg1">
                    <a:lumMod val="95000"/>
                  </a:schemeClr>
                </a:solidFill>
              </a:rPr>
              <a:t>👤 User</a:t>
            </a:r>
          </a:p>
          <a:p>
            <a:r>
              <a:rPr lang="en-IN" sz="1800">
                <a:solidFill>
                  <a:schemeClr val="bg1">
                    <a:lumMod val="95000"/>
                  </a:schemeClr>
                </a:solidFill>
              </a:rPr>
              <a:t>Ask FAQ / Customer Question</a:t>
            </a:r>
          </a:p>
        </p:txBody>
      </p:sp>
      <p:sp>
        <p:nvSpPr>
          <p:cNvPr id="12" name="Arrow: Right 11">
            <a:extLst>
              <a:ext uri="{FF2B5EF4-FFF2-40B4-BE49-F238E27FC236}">
                <a16:creationId xmlns="" xmlns:a16="http://schemas.microsoft.com/office/drawing/2014/main" id="{8A0DBB83-0ADE-C040-28D2-CB506DCFE410}"/>
              </a:ext>
            </a:extLst>
          </p:cNvPr>
          <p:cNvSpPr/>
          <p:nvPr/>
        </p:nvSpPr>
        <p:spPr>
          <a:xfrm>
            <a:off x="4846320" y="751840"/>
            <a:ext cx="1473200" cy="3124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 xmlns:a16="http://schemas.microsoft.com/office/drawing/2014/main" id="{EB9C9058-3967-6F07-C088-D5606747B0BB}"/>
              </a:ext>
            </a:extLst>
          </p:cNvPr>
          <p:cNvSpPr/>
          <p:nvPr/>
        </p:nvSpPr>
        <p:spPr>
          <a:xfrm>
            <a:off x="7274560" y="569574"/>
            <a:ext cx="2885440" cy="95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 xmlns:a16="http://schemas.microsoft.com/office/drawing/2014/main" id="{668E21B1-D93B-AFC7-E709-B170248FC730}"/>
              </a:ext>
            </a:extLst>
          </p:cNvPr>
          <p:cNvSpPr txBox="1"/>
          <p:nvPr/>
        </p:nvSpPr>
        <p:spPr>
          <a:xfrm>
            <a:off x="5405120" y="705347"/>
            <a:ext cx="6096000" cy="684803"/>
          </a:xfrm>
          <a:prstGeom prst="rect">
            <a:avLst/>
          </a:prstGeom>
          <a:noFill/>
        </p:spPr>
        <p:txBody>
          <a:bodyPr wrap="square">
            <a:spAutoFit/>
          </a:bodyPr>
          <a:lstStyle/>
          <a:p>
            <a:pPr indent="0" algn="ctr">
              <a:buNone/>
            </a:pPr>
            <a:r>
              <a:rPr lang="en-IN" sz="1800" b="1" i="0">
                <a:solidFill>
                  <a:schemeClr val="bg1">
                    <a:lumMod val="95000"/>
                  </a:schemeClr>
                </a:solidFill>
                <a:effectLst/>
                <a:latin typeface="+mn-lt"/>
              </a:rPr>
              <a:t>💬 Frontend</a:t>
            </a:r>
          </a:p>
          <a:p>
            <a:pPr indent="0" algn="ctr">
              <a:spcBef>
                <a:spcPts val="300"/>
              </a:spcBef>
              <a:buNone/>
            </a:pPr>
            <a:r>
              <a:rPr lang="en-IN" sz="1800" b="0" i="0">
                <a:solidFill>
                  <a:schemeClr val="bg1">
                    <a:lumMod val="95000"/>
                  </a:schemeClr>
                </a:solidFill>
                <a:effectLst/>
                <a:latin typeface="+mn-lt"/>
              </a:rPr>
              <a:t>Chat Interface</a:t>
            </a:r>
            <a:endParaRPr lang="en-IN" sz="900" b="0" i="0">
              <a:solidFill>
                <a:schemeClr val="bg1">
                  <a:lumMod val="95000"/>
                </a:schemeClr>
              </a:solidFill>
              <a:effectLst/>
              <a:latin typeface="ui-sans-serif"/>
            </a:endParaRPr>
          </a:p>
        </p:txBody>
      </p:sp>
      <p:sp>
        <p:nvSpPr>
          <p:cNvPr id="16" name="Rectangle: Rounded Corners 15">
            <a:extLst>
              <a:ext uri="{FF2B5EF4-FFF2-40B4-BE49-F238E27FC236}">
                <a16:creationId xmlns="" xmlns:a16="http://schemas.microsoft.com/office/drawing/2014/main" id="{8ED9964F-21CA-3F4E-7932-BC13290595F7}"/>
              </a:ext>
            </a:extLst>
          </p:cNvPr>
          <p:cNvSpPr/>
          <p:nvPr/>
        </p:nvSpPr>
        <p:spPr>
          <a:xfrm>
            <a:off x="1960880" y="2163465"/>
            <a:ext cx="866648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 xmlns:a16="http://schemas.microsoft.com/office/drawing/2014/main" id="{80E12460-6C0D-7F31-CEB9-67B4D65E6D32}"/>
              </a:ext>
            </a:extLst>
          </p:cNvPr>
          <p:cNvSpPr txBox="1"/>
          <p:nvPr/>
        </p:nvSpPr>
        <p:spPr>
          <a:xfrm>
            <a:off x="3068320" y="2163465"/>
            <a:ext cx="6096000" cy="684803"/>
          </a:xfrm>
          <a:prstGeom prst="rect">
            <a:avLst/>
          </a:prstGeom>
          <a:noFill/>
        </p:spPr>
        <p:txBody>
          <a:bodyPr wrap="square">
            <a:spAutoFit/>
          </a:bodyPr>
          <a:lstStyle/>
          <a:p>
            <a:pPr indent="0" algn="ctr">
              <a:buNone/>
            </a:pPr>
            <a:r>
              <a:rPr lang="en-IN" sz="1800" b="1" i="0">
                <a:solidFill>
                  <a:schemeClr val="bg1"/>
                </a:solidFill>
                <a:effectLst/>
                <a:latin typeface="+mn-lt"/>
              </a:rPr>
              <a:t>⚙️ Backend REST API</a:t>
            </a:r>
          </a:p>
          <a:p>
            <a:pPr indent="0" algn="ctr">
              <a:spcBef>
                <a:spcPts val="300"/>
              </a:spcBef>
              <a:buNone/>
            </a:pPr>
            <a:r>
              <a:rPr lang="en-IN" sz="1800" b="0" i="0">
                <a:solidFill>
                  <a:schemeClr val="bg1"/>
                </a:solidFill>
                <a:effectLst/>
                <a:latin typeface="+mn-lt"/>
              </a:rPr>
              <a:t>Request Handling • Authentication • Business Logic</a:t>
            </a:r>
            <a:endParaRPr lang="en-IN" sz="900" b="0" i="0">
              <a:solidFill>
                <a:schemeClr val="bg1"/>
              </a:solidFill>
              <a:effectLst/>
              <a:latin typeface="ui-sans-serif"/>
            </a:endParaRPr>
          </a:p>
        </p:txBody>
      </p:sp>
      <p:sp>
        <p:nvSpPr>
          <p:cNvPr id="19" name="Rectangle: Rounded Corners 18">
            <a:extLst>
              <a:ext uri="{FF2B5EF4-FFF2-40B4-BE49-F238E27FC236}">
                <a16:creationId xmlns="" xmlns:a16="http://schemas.microsoft.com/office/drawing/2014/main" id="{DBB7F8C9-D818-A251-2845-E8451E6A4473}"/>
              </a:ext>
            </a:extLst>
          </p:cNvPr>
          <p:cNvSpPr/>
          <p:nvPr/>
        </p:nvSpPr>
        <p:spPr>
          <a:xfrm>
            <a:off x="1625599" y="3429000"/>
            <a:ext cx="2631441" cy="878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FAQ Database</a:t>
            </a:r>
          </a:p>
          <a:p>
            <a:r>
              <a:rPr lang="en-IN"/>
              <a:t>Questions • Answers • Categories</a:t>
            </a:r>
          </a:p>
        </p:txBody>
      </p:sp>
      <p:sp>
        <p:nvSpPr>
          <p:cNvPr id="20" name="Rectangle: Rounded Corners 19">
            <a:extLst>
              <a:ext uri="{FF2B5EF4-FFF2-40B4-BE49-F238E27FC236}">
                <a16:creationId xmlns="" xmlns:a16="http://schemas.microsoft.com/office/drawing/2014/main" id="{A8E917B9-BAA2-E5DE-CF79-73C8AAE4F1EB}"/>
              </a:ext>
            </a:extLst>
          </p:cNvPr>
          <p:cNvSpPr/>
          <p:nvPr/>
        </p:nvSpPr>
        <p:spPr>
          <a:xfrm>
            <a:off x="4597400" y="3428999"/>
            <a:ext cx="306324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AI / NLP</a:t>
            </a:r>
          </a:p>
          <a:p>
            <a:r>
              <a:rPr lang="en-IN"/>
              <a:t>Understand User Query</a:t>
            </a:r>
          </a:p>
        </p:txBody>
      </p:sp>
      <p:sp>
        <p:nvSpPr>
          <p:cNvPr id="21" name="Rectangle: Rounded Corners 20">
            <a:extLst>
              <a:ext uri="{FF2B5EF4-FFF2-40B4-BE49-F238E27FC236}">
                <a16:creationId xmlns="" xmlns:a16="http://schemas.microsoft.com/office/drawing/2014/main" id="{6DA17D34-1B2C-B859-7D54-5F9562934F72}"/>
              </a:ext>
            </a:extLst>
          </p:cNvPr>
          <p:cNvSpPr/>
          <p:nvPr/>
        </p:nvSpPr>
        <p:spPr>
          <a:xfrm>
            <a:off x="7934960" y="3443318"/>
            <a:ext cx="269240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Semantic Search</a:t>
            </a:r>
          </a:p>
          <a:p>
            <a:r>
              <a:rPr lang="en-IN"/>
              <a:t>Find Relevant FAQ</a:t>
            </a:r>
          </a:p>
        </p:txBody>
      </p:sp>
      <p:sp>
        <p:nvSpPr>
          <p:cNvPr id="22" name="Rectangle: Rounded Corners 21">
            <a:extLst>
              <a:ext uri="{FF2B5EF4-FFF2-40B4-BE49-F238E27FC236}">
                <a16:creationId xmlns="" xmlns:a16="http://schemas.microsoft.com/office/drawing/2014/main" id="{F628DCB4-02F6-66A3-CEA3-69967CF54C8A}"/>
              </a:ext>
            </a:extLst>
          </p:cNvPr>
          <p:cNvSpPr/>
          <p:nvPr/>
        </p:nvSpPr>
        <p:spPr>
          <a:xfrm>
            <a:off x="2245360" y="4714240"/>
            <a:ext cx="8666480" cy="7924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AI Response Generator</a:t>
            </a:r>
          </a:p>
          <a:p>
            <a:r>
              <a:rPr lang="en-IN"/>
              <a:t>                                              Generate Accurate &amp; User-Friendly Answer</a:t>
            </a:r>
          </a:p>
        </p:txBody>
      </p:sp>
      <p:sp>
        <p:nvSpPr>
          <p:cNvPr id="23" name="Rectangle: Rounded Corners 22">
            <a:extLst>
              <a:ext uri="{FF2B5EF4-FFF2-40B4-BE49-F238E27FC236}">
                <a16:creationId xmlns="" xmlns:a16="http://schemas.microsoft.com/office/drawing/2014/main" id="{E7305482-12BA-0766-3CE2-4375FEDC10F4}"/>
              </a:ext>
            </a:extLst>
          </p:cNvPr>
          <p:cNvSpPr/>
          <p:nvPr/>
        </p:nvSpPr>
        <p:spPr>
          <a:xfrm>
            <a:off x="3200400" y="6065520"/>
            <a:ext cx="6644640" cy="5994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Final Answer</a:t>
            </a:r>
          </a:p>
          <a:p>
            <a:r>
              <a:rPr lang="en-IN"/>
              <a:t>                                  Response displayed to the user</a:t>
            </a:r>
          </a:p>
        </p:txBody>
      </p:sp>
      <p:cxnSp>
        <p:nvCxnSpPr>
          <p:cNvPr id="25" name="Straight Arrow Connector 24">
            <a:extLst>
              <a:ext uri="{FF2B5EF4-FFF2-40B4-BE49-F238E27FC236}">
                <a16:creationId xmlns="" xmlns:a16="http://schemas.microsoft.com/office/drawing/2014/main" id="{8BA8C503-9C04-838A-D566-61E4CF50BEFC}"/>
              </a:ext>
            </a:extLst>
          </p:cNvPr>
          <p:cNvCxnSpPr/>
          <p:nvPr/>
        </p:nvCxnSpPr>
        <p:spPr>
          <a:xfrm>
            <a:off x="2905760" y="1737360"/>
            <a:ext cx="0" cy="2641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 xmlns:a16="http://schemas.microsoft.com/office/drawing/2014/main" id="{879FB0FE-27A3-76BD-2997-B564950C8441}"/>
              </a:ext>
            </a:extLst>
          </p:cNvPr>
          <p:cNvCxnSpPr/>
          <p:nvPr/>
        </p:nvCxnSpPr>
        <p:spPr>
          <a:xfrm>
            <a:off x="8717280" y="1737360"/>
            <a:ext cx="0" cy="3352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 xmlns:a16="http://schemas.microsoft.com/office/drawing/2014/main" id="{CADFCD61-77D6-B843-1633-32CEB6A6D91A}"/>
              </a:ext>
            </a:extLst>
          </p:cNvPr>
          <p:cNvCxnSpPr>
            <a:cxnSpLocks/>
          </p:cNvCxnSpPr>
          <p:nvPr/>
        </p:nvCxnSpPr>
        <p:spPr>
          <a:xfrm>
            <a:off x="2631440" y="3037840"/>
            <a:ext cx="27432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 xmlns:a16="http://schemas.microsoft.com/office/drawing/2014/main" id="{FD5FB60D-4366-7174-3D56-FE011C40B345}"/>
              </a:ext>
            </a:extLst>
          </p:cNvPr>
          <p:cNvCxnSpPr/>
          <p:nvPr/>
        </p:nvCxnSpPr>
        <p:spPr>
          <a:xfrm>
            <a:off x="5862320" y="3037840"/>
            <a:ext cx="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 xmlns:a16="http://schemas.microsoft.com/office/drawing/2014/main" id="{275F735C-95EA-B298-2913-4367E914770E}"/>
              </a:ext>
            </a:extLst>
          </p:cNvPr>
          <p:cNvCxnSpPr>
            <a:cxnSpLocks/>
          </p:cNvCxnSpPr>
          <p:nvPr/>
        </p:nvCxnSpPr>
        <p:spPr>
          <a:xfrm flipH="1">
            <a:off x="9011920" y="2989580"/>
            <a:ext cx="182880" cy="3429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 xmlns:a16="http://schemas.microsoft.com/office/drawing/2014/main" id="{97A4D54F-DD53-CC78-7D8E-11583F4E4469}"/>
              </a:ext>
            </a:extLst>
          </p:cNvPr>
          <p:cNvCxnSpPr/>
          <p:nvPr/>
        </p:nvCxnSpPr>
        <p:spPr>
          <a:xfrm>
            <a:off x="6294120" y="4236720"/>
            <a:ext cx="0" cy="406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 xmlns:a16="http://schemas.microsoft.com/office/drawing/2014/main" id="{47D6CBBF-1958-C8AA-3AF0-0120F6C171BD}"/>
              </a:ext>
            </a:extLst>
          </p:cNvPr>
          <p:cNvCxnSpPr/>
          <p:nvPr/>
        </p:nvCxnSpPr>
        <p:spPr>
          <a:xfrm>
            <a:off x="6207760" y="5638800"/>
            <a:ext cx="0" cy="345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1733101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D82A76D-5E3A-D98B-2A9A-932E5C00DFB2}"/>
              </a:ext>
            </a:extLst>
          </p:cNvPr>
          <p:cNvSpPr txBox="1"/>
          <p:nvPr/>
        </p:nvSpPr>
        <p:spPr>
          <a:xfrm>
            <a:off x="436880" y="186174"/>
            <a:ext cx="6096000" cy="369332"/>
          </a:xfrm>
          <a:prstGeom prst="rect">
            <a:avLst/>
          </a:prstGeom>
          <a:noFill/>
        </p:spPr>
        <p:txBody>
          <a:bodyPr wrap="square">
            <a:spAutoFit/>
          </a:bodyPr>
          <a:lstStyle/>
          <a:p>
            <a:r>
              <a:rPr lang="en-IN" b="1"/>
              <a:t>EPIC</a:t>
            </a:r>
            <a:r>
              <a:rPr lang="en-IN"/>
              <a:t> </a:t>
            </a:r>
            <a:r>
              <a:rPr lang="en-IN" b="1"/>
              <a:t>2:</a:t>
            </a:r>
            <a:r>
              <a:rPr lang="en-IN"/>
              <a:t> Project Setup and Configuration</a:t>
            </a:r>
          </a:p>
        </p:txBody>
      </p:sp>
      <p:sp>
        <p:nvSpPr>
          <p:cNvPr id="5" name="TextBox 4">
            <a:extLst>
              <a:ext uri="{FF2B5EF4-FFF2-40B4-BE49-F238E27FC236}">
                <a16:creationId xmlns="" xmlns:a16="http://schemas.microsoft.com/office/drawing/2014/main" id="{E099853B-9071-C563-277C-B75E08B9EBC2}"/>
              </a:ext>
            </a:extLst>
          </p:cNvPr>
          <p:cNvSpPr txBox="1"/>
          <p:nvPr/>
        </p:nvSpPr>
        <p:spPr>
          <a:xfrm>
            <a:off x="558800" y="482939"/>
            <a:ext cx="8036560" cy="1467782"/>
          </a:xfrm>
          <a:prstGeom prst="rect">
            <a:avLst/>
          </a:prstGeom>
          <a:noFill/>
        </p:spPr>
        <p:txBody>
          <a:bodyPr wrap="square">
            <a:spAutoFit/>
          </a:bodyPr>
          <a:lstStyle/>
          <a:p>
            <a:pPr>
              <a:buNone/>
            </a:pPr>
            <a:r>
              <a:rPr lang="en-IN" b="1"/>
              <a:t>2.1 Create Project Folder</a:t>
            </a:r>
          </a:p>
          <a:p>
            <a:pPr marL="342900" lvl="0" indent="-342900">
              <a:buFont typeface="+mj-lt"/>
              <a:buAutoNum type="arabicPeriod"/>
            </a:pPr>
            <a:r>
              <a:rPr lang="en-IN"/>
              <a:t>Create the main project folder named </a:t>
            </a:r>
            <a:r>
              <a:rPr lang="en-IN" b="1"/>
              <a:t>AI FAQ Assistant API</a:t>
            </a:r>
            <a:r>
              <a:rPr lang="en-IN"/>
              <a:t>. </a:t>
            </a:r>
          </a:p>
          <a:p>
            <a:pPr marL="342900" lvl="0" indent="-342900">
              <a:buFont typeface="+mj-lt"/>
              <a:buAutoNum type="arabicPeriod"/>
            </a:pPr>
            <a:r>
              <a:rPr lang="en-IN"/>
              <a:t>Create separate folders for </a:t>
            </a:r>
            <a:r>
              <a:rPr lang="en-IN" b="1"/>
              <a:t>Frontend, Backend, Database, and Documentation</a:t>
            </a:r>
            <a:r>
              <a:rPr lang="en-IN"/>
              <a:t>. </a:t>
            </a:r>
          </a:p>
          <a:p>
            <a:pPr marL="342900" lvl="0" indent="-342900">
              <a:buFont typeface="+mj-lt"/>
              <a:buAutoNum type="arabicPeriod"/>
            </a:pPr>
            <a:r>
              <a:rPr lang="en-IN"/>
              <a:t>Organize all project files and resources in their respective folders.</a:t>
            </a:r>
          </a:p>
        </p:txBody>
      </p:sp>
      <p:pic>
        <p:nvPicPr>
          <p:cNvPr id="7" name="Picture 6">
            <a:extLst>
              <a:ext uri="{FF2B5EF4-FFF2-40B4-BE49-F238E27FC236}">
                <a16:creationId xmlns="" xmlns:a16="http://schemas.microsoft.com/office/drawing/2014/main" id="{3CF6BA48-8478-9BF4-8C97-4572FD013FCC}"/>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031240" y="2087630"/>
            <a:ext cx="3545840" cy="2682740"/>
          </a:xfrm>
          <a:prstGeom prst="rect">
            <a:avLst/>
          </a:prstGeom>
        </p:spPr>
      </p:pic>
      <p:sp>
        <p:nvSpPr>
          <p:cNvPr id="9" name="TextBox 8">
            <a:extLst>
              <a:ext uri="{FF2B5EF4-FFF2-40B4-BE49-F238E27FC236}">
                <a16:creationId xmlns="" xmlns:a16="http://schemas.microsoft.com/office/drawing/2014/main" id="{B91634E6-280A-982B-2C6B-FB229C4C9C06}"/>
              </a:ext>
            </a:extLst>
          </p:cNvPr>
          <p:cNvSpPr txBox="1"/>
          <p:nvPr/>
        </p:nvSpPr>
        <p:spPr>
          <a:xfrm>
            <a:off x="650240" y="4907279"/>
            <a:ext cx="8219440" cy="1477328"/>
          </a:xfrm>
          <a:prstGeom prst="rect">
            <a:avLst/>
          </a:prstGeom>
          <a:noFill/>
        </p:spPr>
        <p:txBody>
          <a:bodyPr wrap="square">
            <a:spAutoFit/>
          </a:bodyPr>
          <a:lstStyle/>
          <a:p>
            <a:pPr>
              <a:buNone/>
            </a:pPr>
            <a:r>
              <a:rPr lang="en-IN" b="1"/>
              <a:t>2.2 Server Setup – </a:t>
            </a:r>
            <a:r>
              <a:rPr lang="en-IN" b="1" err="1">
                <a:latin typeface="+mn-lt"/>
              </a:rPr>
              <a:t>npm</a:t>
            </a:r>
            <a:r>
              <a:rPr lang="en-IN" b="1">
                <a:latin typeface="+mn-lt"/>
              </a:rPr>
              <a:t> </a:t>
            </a:r>
            <a:r>
              <a:rPr lang="en-IN" b="1" err="1">
                <a:latin typeface="+mn-lt"/>
              </a:rPr>
              <a:t>init</a:t>
            </a:r>
            <a:endParaRPr lang="en-IN" b="1"/>
          </a:p>
          <a:p>
            <a:pPr marL="342900" lvl="0" indent="-342900">
              <a:buFont typeface="+mj-lt"/>
              <a:buAutoNum type="arabicPeriod"/>
            </a:pPr>
            <a:r>
              <a:rPr lang="en-IN"/>
              <a:t>Open the </a:t>
            </a:r>
            <a:r>
              <a:rPr lang="en-IN" b="1"/>
              <a:t>AI FAQ Assistant API</a:t>
            </a:r>
            <a:r>
              <a:rPr lang="en-IN"/>
              <a:t> project folder in the terminal.</a:t>
            </a:r>
          </a:p>
          <a:p>
            <a:pPr marL="342900" lvl="0" indent="-342900">
              <a:buFont typeface="+mj-lt"/>
              <a:buAutoNum type="arabicPeriod"/>
            </a:pPr>
            <a:r>
              <a:rPr lang="en-IN"/>
              <a:t>Run </a:t>
            </a:r>
            <a:r>
              <a:rPr lang="en-IN" b="1" err="1">
                <a:latin typeface="+mn-lt"/>
              </a:rPr>
              <a:t>npm</a:t>
            </a:r>
            <a:r>
              <a:rPr lang="en-IN" b="1">
                <a:latin typeface="+mn-lt"/>
              </a:rPr>
              <a:t> </a:t>
            </a:r>
            <a:r>
              <a:rPr lang="en-IN" b="1" err="1">
                <a:latin typeface="+mn-lt"/>
              </a:rPr>
              <a:t>init</a:t>
            </a:r>
            <a:r>
              <a:rPr lang="en-IN" b="1">
                <a:latin typeface="+mn-lt"/>
              </a:rPr>
              <a:t> -y</a:t>
            </a:r>
            <a:r>
              <a:rPr lang="en-IN"/>
              <a:t> to initialize the Node.js server project.</a:t>
            </a:r>
          </a:p>
          <a:p>
            <a:pPr marL="342900" lvl="0" indent="-342900">
              <a:buFont typeface="+mj-lt"/>
              <a:buAutoNum type="arabicPeriod"/>
            </a:pPr>
            <a:r>
              <a:rPr lang="en-IN"/>
              <a:t>This creates the </a:t>
            </a:r>
            <a:r>
              <a:rPr lang="en-IN" b="1" err="1">
                <a:latin typeface="+mn-lt"/>
              </a:rPr>
              <a:t>package.json</a:t>
            </a:r>
            <a:r>
              <a:rPr lang="en-IN"/>
              <a:t> file for managing server dependencies and configuration.</a:t>
            </a:r>
          </a:p>
        </p:txBody>
      </p:sp>
    </p:spTree>
    <p:extLst>
      <p:ext uri="{BB962C8B-B14F-4D97-AF65-F5344CB8AC3E}">
        <p14:creationId xmlns="" xmlns:p14="http://schemas.microsoft.com/office/powerpoint/2010/main" val="2316166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4555D54B-2F96-4BC1-8085-BE962F950582}"/>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3566161" y="497840"/>
            <a:ext cx="4328160" cy="5414667"/>
          </a:xfrm>
          <a:prstGeom prst="rect">
            <a:avLst/>
          </a:prstGeom>
        </p:spPr>
      </p:pic>
      <p:sp>
        <p:nvSpPr>
          <p:cNvPr id="4" name="TextBox 3">
            <a:extLst>
              <a:ext uri="{FF2B5EF4-FFF2-40B4-BE49-F238E27FC236}">
                <a16:creationId xmlns="" xmlns:a16="http://schemas.microsoft.com/office/drawing/2014/main" id="{02332026-183C-0D0D-C3CA-7E851C750FFB}"/>
              </a:ext>
            </a:extLst>
          </p:cNvPr>
          <p:cNvSpPr txBox="1"/>
          <p:nvPr/>
        </p:nvSpPr>
        <p:spPr>
          <a:xfrm>
            <a:off x="457200" y="128508"/>
            <a:ext cx="4001416" cy="369332"/>
          </a:xfrm>
          <a:prstGeom prst="rect">
            <a:avLst/>
          </a:prstGeom>
          <a:noFill/>
        </p:spPr>
        <p:txBody>
          <a:bodyPr wrap="none" rtlCol="0">
            <a:spAutoFit/>
          </a:bodyPr>
          <a:lstStyle/>
          <a:p>
            <a:r>
              <a:rPr lang="en-US" b="1"/>
              <a:t>Core system script implementations</a:t>
            </a:r>
            <a:endParaRPr lang="en-IN" b="1"/>
          </a:p>
        </p:txBody>
      </p:sp>
    </p:spTree>
    <p:extLst>
      <p:ext uri="{BB962C8B-B14F-4D97-AF65-F5344CB8AC3E}">
        <p14:creationId xmlns="" xmlns:p14="http://schemas.microsoft.com/office/powerpoint/2010/main" val="2154389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77D7C8F0-56F3-819A-07D2-5619194F160D}"/>
              </a:ext>
            </a:extLst>
          </p:cNvPr>
          <p:cNvSpPr txBox="1"/>
          <p:nvPr/>
        </p:nvSpPr>
        <p:spPr>
          <a:xfrm>
            <a:off x="934720" y="225702"/>
            <a:ext cx="7498080" cy="4801314"/>
          </a:xfrm>
          <a:prstGeom prst="rect">
            <a:avLst/>
          </a:prstGeom>
          <a:noFill/>
        </p:spPr>
        <p:txBody>
          <a:bodyPr wrap="square">
            <a:spAutoFit/>
          </a:bodyPr>
          <a:lstStyle/>
          <a:p>
            <a:pPr>
              <a:buNone/>
            </a:pPr>
            <a:r>
              <a:rPr lang="en-IN" b="1"/>
              <a:t>EPIC 3: Backend Development</a:t>
            </a:r>
          </a:p>
          <a:p>
            <a:pPr>
              <a:buNone/>
            </a:pPr>
            <a:r>
              <a:rPr lang="en-IN" b="1"/>
              <a:t>3.1 Server Configuration</a:t>
            </a:r>
          </a:p>
          <a:p>
            <a:pPr marL="342900" lvl="0" indent="-342900">
              <a:buFont typeface="+mj-lt"/>
              <a:buAutoNum type="arabicPeriod"/>
            </a:pPr>
            <a:r>
              <a:rPr lang="en-IN"/>
              <a:t>Create and configure the backend server. </a:t>
            </a:r>
          </a:p>
          <a:p>
            <a:pPr marL="342900" lvl="0" indent="-342900">
              <a:buFont typeface="+mj-lt"/>
              <a:buAutoNum type="arabicPeriod"/>
            </a:pPr>
            <a:r>
              <a:rPr lang="en-IN"/>
              <a:t>Install required Node.js packages. </a:t>
            </a:r>
          </a:p>
          <a:p>
            <a:pPr marL="342900" lvl="0" indent="-342900">
              <a:buFont typeface="+mj-lt"/>
              <a:buAutoNum type="arabicPeriod"/>
            </a:pPr>
            <a:r>
              <a:rPr lang="en-IN"/>
              <a:t>Connect the server with the database. </a:t>
            </a:r>
          </a:p>
          <a:p>
            <a:pPr>
              <a:buNone/>
            </a:pPr>
            <a:r>
              <a:rPr lang="en-IN" b="1"/>
              <a:t>3.2 API Development</a:t>
            </a:r>
          </a:p>
          <a:p>
            <a:pPr marL="342900" lvl="0" indent="-342900">
              <a:buFont typeface="+mj-lt"/>
              <a:buAutoNum type="arabicPeriod"/>
            </a:pPr>
            <a:r>
              <a:rPr lang="en-IN"/>
              <a:t>Create REST API endpoints. </a:t>
            </a:r>
          </a:p>
          <a:p>
            <a:pPr marL="342900" lvl="0" indent="-342900">
              <a:buFont typeface="+mj-lt"/>
              <a:buAutoNum type="arabicPeriod"/>
            </a:pPr>
            <a:r>
              <a:rPr lang="en-IN"/>
              <a:t>Implement FAQ CRUD operations. </a:t>
            </a:r>
          </a:p>
          <a:p>
            <a:pPr marL="342900" lvl="0" indent="-342900">
              <a:buFont typeface="+mj-lt"/>
              <a:buAutoNum type="arabicPeriod"/>
            </a:pPr>
            <a:r>
              <a:rPr lang="en-IN"/>
              <a:t>Handle user requests and API responses. </a:t>
            </a:r>
          </a:p>
          <a:p>
            <a:pPr>
              <a:buNone/>
            </a:pPr>
            <a:r>
              <a:rPr lang="en-IN" b="1"/>
              <a:t>3.3 AI FAQ Integration</a:t>
            </a:r>
          </a:p>
          <a:p>
            <a:pPr marL="342900" lvl="0" indent="-342900">
              <a:buFont typeface="+mj-lt"/>
              <a:buAutoNum type="arabicPeriod"/>
            </a:pPr>
            <a:r>
              <a:rPr lang="en-IN"/>
              <a:t>Process the user's question. </a:t>
            </a:r>
          </a:p>
          <a:p>
            <a:pPr marL="342900" lvl="0" indent="-342900">
              <a:buFont typeface="+mj-lt"/>
              <a:buAutoNum type="arabicPeriod"/>
            </a:pPr>
            <a:r>
              <a:rPr lang="en-IN"/>
              <a:t>Search for the relevant FAQ. </a:t>
            </a:r>
          </a:p>
          <a:p>
            <a:pPr marL="342900" lvl="0" indent="-342900">
              <a:buFont typeface="+mj-lt"/>
              <a:buAutoNum type="arabicPeriod"/>
            </a:pPr>
            <a:r>
              <a:rPr lang="en-IN"/>
              <a:t>Generate and return the appropriate answer. </a:t>
            </a:r>
          </a:p>
          <a:p>
            <a:pPr>
              <a:buNone/>
            </a:pPr>
            <a:r>
              <a:rPr lang="en-IN" b="1"/>
              <a:t>3.4 Feedback &amp; Like Management</a:t>
            </a:r>
          </a:p>
          <a:p>
            <a:pPr marL="342900" lvl="0" indent="-342900">
              <a:buFont typeface="+mj-lt"/>
              <a:buAutoNum type="arabicPeriod"/>
            </a:pPr>
            <a:r>
              <a:rPr lang="en-IN"/>
              <a:t>Implement FAQ like functionality. </a:t>
            </a:r>
          </a:p>
          <a:p>
            <a:pPr marL="342900" lvl="0" indent="-342900">
              <a:buFont typeface="+mj-lt"/>
              <a:buAutoNum type="arabicPeriod"/>
            </a:pPr>
            <a:r>
              <a:rPr lang="en-IN"/>
              <a:t>Store answer feedback. </a:t>
            </a:r>
          </a:p>
          <a:p>
            <a:pPr marL="342900" lvl="0" indent="-342900">
              <a:buFont typeface="+mj-lt"/>
              <a:buAutoNum type="arabicPeriod"/>
            </a:pPr>
            <a:r>
              <a:rPr lang="en-IN"/>
              <a:t>Retrieve feedback and rating data. </a:t>
            </a:r>
          </a:p>
        </p:txBody>
      </p:sp>
    </p:spTree>
    <p:extLst>
      <p:ext uri="{BB962C8B-B14F-4D97-AF65-F5344CB8AC3E}">
        <p14:creationId xmlns="" xmlns:p14="http://schemas.microsoft.com/office/powerpoint/2010/main" val="3738999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A73DD681-207E-81BC-6A7B-D764A5F36926}"/>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760220" y="2496820"/>
            <a:ext cx="8915400" cy="4038600"/>
          </a:xfrm>
          <a:prstGeom prst="rect">
            <a:avLst/>
          </a:prstGeom>
        </p:spPr>
      </p:pic>
      <p:sp>
        <p:nvSpPr>
          <p:cNvPr id="4" name="TextBox 3">
            <a:extLst>
              <a:ext uri="{FF2B5EF4-FFF2-40B4-BE49-F238E27FC236}">
                <a16:creationId xmlns="" xmlns:a16="http://schemas.microsoft.com/office/drawing/2014/main" id="{ACBC389A-075E-C20F-72EA-2086060FC681}"/>
              </a:ext>
            </a:extLst>
          </p:cNvPr>
          <p:cNvSpPr txBox="1"/>
          <p:nvPr/>
        </p:nvSpPr>
        <p:spPr>
          <a:xfrm>
            <a:off x="1483360" y="548640"/>
            <a:ext cx="3724096" cy="369332"/>
          </a:xfrm>
          <a:prstGeom prst="rect">
            <a:avLst/>
          </a:prstGeom>
          <a:noFill/>
        </p:spPr>
        <p:txBody>
          <a:bodyPr wrap="none" rtlCol="0">
            <a:spAutoFit/>
          </a:bodyPr>
          <a:lstStyle/>
          <a:p>
            <a:r>
              <a:rPr lang="en-US" b="1"/>
              <a:t>1.Application Entry Point</a:t>
            </a:r>
            <a:r>
              <a:rPr lang="en-US" b="1">
                <a:solidFill>
                  <a:schemeClr val="accent6"/>
                </a:solidFill>
              </a:rPr>
              <a:t>(index.js)</a:t>
            </a:r>
            <a:endParaRPr lang="en-IN" b="1">
              <a:solidFill>
                <a:schemeClr val="accent6"/>
              </a:solidFill>
            </a:endParaRPr>
          </a:p>
        </p:txBody>
      </p:sp>
      <p:sp>
        <p:nvSpPr>
          <p:cNvPr id="5" name="TextBox 4">
            <a:extLst>
              <a:ext uri="{FF2B5EF4-FFF2-40B4-BE49-F238E27FC236}">
                <a16:creationId xmlns="" xmlns:a16="http://schemas.microsoft.com/office/drawing/2014/main" id="{EE8CC987-FF0D-8E49-3F65-6C4CB40486D9}"/>
              </a:ext>
            </a:extLst>
          </p:cNvPr>
          <p:cNvSpPr txBox="1"/>
          <p:nvPr/>
        </p:nvSpPr>
        <p:spPr>
          <a:xfrm>
            <a:off x="1971041" y="1046480"/>
            <a:ext cx="9540240" cy="1477328"/>
          </a:xfrm>
          <a:prstGeom prst="rect">
            <a:avLst/>
          </a:prstGeom>
          <a:noFill/>
        </p:spPr>
        <p:txBody>
          <a:bodyPr wrap="square" rtlCol="0">
            <a:spAutoFit/>
          </a:bodyPr>
          <a:lstStyle/>
          <a:p>
            <a:r>
              <a:rPr lang="en-US"/>
              <a:t>The index .</a:t>
            </a:r>
            <a:r>
              <a:rPr lang="en-US" err="1"/>
              <a:t>js</a:t>
            </a:r>
            <a:r>
              <a:rPr lang="en-US"/>
              <a:t> file serves as the main entry point of the </a:t>
            </a:r>
            <a:r>
              <a:rPr lang="en-US" err="1"/>
              <a:t>application.It</a:t>
            </a:r>
            <a:r>
              <a:rPr lang="en-US"/>
              <a:t> initializes the Express </a:t>
            </a:r>
            <a:r>
              <a:rPr lang="en-US" err="1"/>
              <a:t>server,loads</a:t>
            </a:r>
            <a:r>
              <a:rPr lang="en-US"/>
              <a:t> environment variables configures </a:t>
            </a:r>
            <a:r>
              <a:rPr lang="en-US" err="1"/>
              <a:t>middleware,establishes</a:t>
            </a:r>
            <a:r>
              <a:rPr lang="en-US"/>
              <a:t> the MongoDB connection ,register API routes and starts the server after a successfully</a:t>
            </a:r>
          </a:p>
          <a:p>
            <a:r>
              <a:rPr lang="en-US"/>
              <a:t>Database connection</a:t>
            </a:r>
          </a:p>
          <a:p>
            <a:endParaRPr lang="en-IN"/>
          </a:p>
        </p:txBody>
      </p:sp>
    </p:spTree>
    <p:extLst>
      <p:ext uri="{BB962C8B-B14F-4D97-AF65-F5344CB8AC3E}">
        <p14:creationId xmlns="" xmlns:p14="http://schemas.microsoft.com/office/powerpoint/2010/main" val="2357856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B76E1511-4A2E-13FD-0FFC-7F1EE14F8FC2}"/>
              </a:ext>
            </a:extLst>
          </p:cNvPr>
          <p:cNvSpPr txBox="1"/>
          <p:nvPr/>
        </p:nvSpPr>
        <p:spPr>
          <a:xfrm>
            <a:off x="416560" y="203200"/>
            <a:ext cx="3321743" cy="369332"/>
          </a:xfrm>
          <a:prstGeom prst="rect">
            <a:avLst/>
          </a:prstGeom>
          <a:noFill/>
        </p:spPr>
        <p:txBody>
          <a:bodyPr wrap="none" rtlCol="0">
            <a:spAutoFit/>
          </a:bodyPr>
          <a:lstStyle/>
          <a:p>
            <a:r>
              <a:rPr lang="en-US" b="1"/>
              <a:t>Epic4:Database Configuration</a:t>
            </a:r>
            <a:endParaRPr lang="en-IN" b="1"/>
          </a:p>
        </p:txBody>
      </p:sp>
      <p:sp>
        <p:nvSpPr>
          <p:cNvPr id="4" name="TextBox 3">
            <a:extLst>
              <a:ext uri="{FF2B5EF4-FFF2-40B4-BE49-F238E27FC236}">
                <a16:creationId xmlns="" xmlns:a16="http://schemas.microsoft.com/office/drawing/2014/main" id="{CE57995B-AC34-CB96-0FF7-B9E52F45028E}"/>
              </a:ext>
            </a:extLst>
          </p:cNvPr>
          <p:cNvSpPr txBox="1"/>
          <p:nvPr/>
        </p:nvSpPr>
        <p:spPr>
          <a:xfrm>
            <a:off x="599440" y="572533"/>
            <a:ext cx="9540240" cy="2031325"/>
          </a:xfrm>
          <a:prstGeom prst="rect">
            <a:avLst/>
          </a:prstGeom>
          <a:noFill/>
        </p:spPr>
        <p:txBody>
          <a:bodyPr wrap="square">
            <a:spAutoFit/>
          </a:bodyPr>
          <a:lstStyle/>
          <a:p>
            <a:r>
              <a:rPr lang="en-IN"/>
              <a:t>Database Configuration</a:t>
            </a:r>
          </a:p>
          <a:p>
            <a:pPr marL="285750" indent="-285750">
              <a:buFont typeface="Arial" panose="020B0604020202020204" pitchFamily="34" charset="0"/>
              <a:buChar char="•"/>
            </a:pPr>
            <a:r>
              <a:rPr lang="en-IN"/>
              <a:t> Create the AI FAQ Assistant database.</a:t>
            </a:r>
          </a:p>
          <a:p>
            <a:pPr marL="285750" indent="-285750">
              <a:buFont typeface="Arial" panose="020B0604020202020204" pitchFamily="34" charset="0"/>
              <a:buChar char="•"/>
            </a:pPr>
            <a:r>
              <a:rPr lang="en-IN"/>
              <a:t>Configure database connection with the API.</a:t>
            </a:r>
          </a:p>
          <a:p>
            <a:pPr marL="285750" indent="-285750">
              <a:buFont typeface="Arial" panose="020B0604020202020204" pitchFamily="34" charset="0"/>
              <a:buChar char="•"/>
            </a:pPr>
            <a:r>
              <a:rPr lang="en-IN"/>
              <a:t> Store database credentials securely using ".env".</a:t>
            </a:r>
          </a:p>
          <a:p>
            <a:pPr marL="285750" indent="-285750">
              <a:buFont typeface="Arial" panose="020B0604020202020204" pitchFamily="34" charset="0"/>
              <a:buChar char="•"/>
            </a:pPr>
            <a:r>
              <a:rPr lang="en-IN"/>
              <a:t>Create tables for User, FAQ, Category, FAQ Like, Answer Feedback, Tag and FAQ Tag.</a:t>
            </a:r>
          </a:p>
          <a:p>
            <a:pPr marL="285750" indent="-285750">
              <a:buFont typeface="Arial" panose="020B0604020202020204" pitchFamily="34" charset="0"/>
              <a:buChar char="•"/>
            </a:pPr>
            <a:r>
              <a:rPr lang="en-IN"/>
              <a:t>Establish relationships between the tables.</a:t>
            </a:r>
          </a:p>
          <a:p>
            <a:pPr marL="285750" indent="-285750">
              <a:buFont typeface="Arial" panose="020B0604020202020204" pitchFamily="34" charset="0"/>
              <a:buChar char="•"/>
            </a:pPr>
            <a:r>
              <a:rPr lang="en-IN"/>
              <a:t>Test the database connection with the backend API.</a:t>
            </a:r>
          </a:p>
        </p:txBody>
      </p:sp>
      <p:pic>
        <p:nvPicPr>
          <p:cNvPr id="6" name="Picture 5">
            <a:extLst>
              <a:ext uri="{FF2B5EF4-FFF2-40B4-BE49-F238E27FC236}">
                <a16:creationId xmlns="" xmlns:a16="http://schemas.microsoft.com/office/drawing/2014/main" id="{A162DAAB-5342-D3C3-0EA9-42EA9F096F34}"/>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014417" y="2626926"/>
            <a:ext cx="4858063" cy="3658541"/>
          </a:xfrm>
          <a:prstGeom prst="rect">
            <a:avLst/>
          </a:prstGeom>
        </p:spPr>
      </p:pic>
    </p:spTree>
    <p:extLst>
      <p:ext uri="{BB962C8B-B14F-4D97-AF65-F5344CB8AC3E}">
        <p14:creationId xmlns="" xmlns:p14="http://schemas.microsoft.com/office/powerpoint/2010/main" val="3328409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BD74A8F3-5576-67E5-E0C0-FF077162E951}"/>
              </a:ext>
            </a:extLst>
          </p:cNvPr>
          <p:cNvSpPr txBox="1"/>
          <p:nvPr/>
        </p:nvSpPr>
        <p:spPr>
          <a:xfrm>
            <a:off x="355600" y="0"/>
            <a:ext cx="6096000" cy="2862322"/>
          </a:xfrm>
          <a:prstGeom prst="rect">
            <a:avLst/>
          </a:prstGeom>
          <a:noFill/>
        </p:spPr>
        <p:txBody>
          <a:bodyPr wrap="square">
            <a:spAutoFit/>
          </a:bodyPr>
          <a:lstStyle/>
          <a:p>
            <a:r>
              <a:rPr lang="en-US" b="1"/>
              <a:t>Epic5:Project Execution</a:t>
            </a:r>
          </a:p>
          <a:p>
            <a:endParaRPr lang="en-US"/>
          </a:p>
          <a:p>
            <a:pPr marL="285750" indent="-285750">
              <a:buFont typeface="Arial" panose="020B0604020202020204" pitchFamily="34" charset="0"/>
              <a:buChar char="•"/>
            </a:pPr>
            <a:r>
              <a:rPr lang="en-US"/>
              <a:t>- Set up the project environment and folder structure.</a:t>
            </a:r>
          </a:p>
          <a:p>
            <a:pPr marL="285750" indent="-285750">
              <a:buFont typeface="Arial" panose="020B0604020202020204" pitchFamily="34" charset="0"/>
              <a:buChar char="•"/>
            </a:pPr>
            <a:r>
              <a:rPr lang="en-US"/>
              <a:t>- Configure the Node.js server and database.</a:t>
            </a:r>
          </a:p>
          <a:p>
            <a:pPr marL="285750" indent="-285750">
              <a:buFont typeface="Arial" panose="020B0604020202020204" pitchFamily="34" charset="0"/>
              <a:buChar char="•"/>
            </a:pPr>
            <a:r>
              <a:rPr lang="en-US"/>
              <a:t>- Develop REST API endpoints for FAQ management.</a:t>
            </a:r>
          </a:p>
          <a:p>
            <a:pPr marL="285750" indent="-285750">
              <a:buFont typeface="Arial" panose="020B0604020202020204" pitchFamily="34" charset="0"/>
              <a:buChar char="•"/>
            </a:pPr>
            <a:r>
              <a:rPr lang="en-US"/>
              <a:t>- Implement user, category, tag, like and feedback modules.</a:t>
            </a:r>
          </a:p>
          <a:p>
            <a:pPr marL="285750" indent="-285750">
              <a:buFont typeface="Arial" panose="020B0604020202020204" pitchFamily="34" charset="0"/>
              <a:buChar char="•"/>
            </a:pPr>
            <a:r>
              <a:rPr lang="en-US"/>
              <a:t>- Connect the API with the database.</a:t>
            </a:r>
          </a:p>
          <a:p>
            <a:pPr marL="285750" indent="-285750">
              <a:buFont typeface="Arial" panose="020B0604020202020204" pitchFamily="34" charset="0"/>
              <a:buChar char="•"/>
            </a:pPr>
            <a:r>
              <a:rPr lang="en-US"/>
              <a:t>- Test API requests and responses using Postman.</a:t>
            </a:r>
          </a:p>
          <a:p>
            <a:pPr marL="285750" indent="-285750">
              <a:buFont typeface="Arial" panose="020B0604020202020204" pitchFamily="34" charset="0"/>
              <a:buChar char="•"/>
            </a:pPr>
            <a:r>
              <a:rPr lang="en-US"/>
              <a:t>- Run the complete AI FAQ Assistant system successfully.</a:t>
            </a:r>
            <a:endParaRPr lang="en-IN"/>
          </a:p>
        </p:txBody>
      </p:sp>
      <p:sp>
        <p:nvSpPr>
          <p:cNvPr id="6" name="Rectangle: Rounded Corners 5">
            <a:extLst>
              <a:ext uri="{FF2B5EF4-FFF2-40B4-BE49-F238E27FC236}">
                <a16:creationId xmlns="" xmlns:a16="http://schemas.microsoft.com/office/drawing/2014/main" id="{F2003AE3-623F-1AB3-C179-6C40B9FC8F20}"/>
              </a:ext>
            </a:extLst>
          </p:cNvPr>
          <p:cNvSpPr/>
          <p:nvPr/>
        </p:nvSpPr>
        <p:spPr>
          <a:xfrm>
            <a:off x="1290320" y="4257040"/>
            <a:ext cx="7233920" cy="4368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install</a:t>
            </a:r>
          </a:p>
        </p:txBody>
      </p:sp>
      <p:sp>
        <p:nvSpPr>
          <p:cNvPr id="8" name="TextBox 7">
            <a:extLst>
              <a:ext uri="{FF2B5EF4-FFF2-40B4-BE49-F238E27FC236}">
                <a16:creationId xmlns="" xmlns:a16="http://schemas.microsoft.com/office/drawing/2014/main" id="{467B8101-6CEE-EE14-EC3D-CEB185F19DA2}"/>
              </a:ext>
            </a:extLst>
          </p:cNvPr>
          <p:cNvSpPr txBox="1"/>
          <p:nvPr/>
        </p:nvSpPr>
        <p:spPr>
          <a:xfrm>
            <a:off x="355600" y="4981416"/>
            <a:ext cx="6096000" cy="369332"/>
          </a:xfrm>
          <a:prstGeom prst="rect">
            <a:avLst/>
          </a:prstGeom>
          <a:noFill/>
        </p:spPr>
        <p:txBody>
          <a:bodyPr wrap="square">
            <a:spAutoFit/>
          </a:bodyPr>
          <a:lstStyle/>
          <a:p>
            <a:r>
              <a:rPr lang="en-IN"/>
              <a:t>Start the development server:</a:t>
            </a:r>
          </a:p>
        </p:txBody>
      </p:sp>
      <p:sp>
        <p:nvSpPr>
          <p:cNvPr id="10" name="TextBox 9">
            <a:extLst>
              <a:ext uri="{FF2B5EF4-FFF2-40B4-BE49-F238E27FC236}">
                <a16:creationId xmlns="" xmlns:a16="http://schemas.microsoft.com/office/drawing/2014/main" id="{38C1ED98-EB92-CEE2-05F9-65FC069EA07B}"/>
              </a:ext>
            </a:extLst>
          </p:cNvPr>
          <p:cNvSpPr txBox="1"/>
          <p:nvPr/>
        </p:nvSpPr>
        <p:spPr>
          <a:xfrm>
            <a:off x="508000" y="2967335"/>
            <a:ext cx="6096000" cy="923330"/>
          </a:xfrm>
          <a:prstGeom prst="rect">
            <a:avLst/>
          </a:prstGeom>
          <a:noFill/>
        </p:spPr>
        <p:txBody>
          <a:bodyPr wrap="square">
            <a:spAutoFit/>
          </a:bodyPr>
          <a:lstStyle/>
          <a:p>
            <a:r>
              <a:rPr lang="en-IN"/>
              <a:t>Running the Backend Server</a:t>
            </a:r>
          </a:p>
          <a:p>
            <a:endParaRPr lang="en-IN"/>
          </a:p>
          <a:p>
            <a:r>
              <a:rPr lang="en-IN"/>
              <a:t>install all required dependencies:</a:t>
            </a:r>
          </a:p>
        </p:txBody>
      </p:sp>
      <p:sp>
        <p:nvSpPr>
          <p:cNvPr id="11" name="Rectangle: Rounded Corners 10">
            <a:extLst>
              <a:ext uri="{FF2B5EF4-FFF2-40B4-BE49-F238E27FC236}">
                <a16:creationId xmlns="" xmlns:a16="http://schemas.microsoft.com/office/drawing/2014/main" id="{736E77D5-D872-F4D0-69AF-07B48C5B9529}"/>
              </a:ext>
            </a:extLst>
          </p:cNvPr>
          <p:cNvSpPr/>
          <p:nvPr/>
        </p:nvSpPr>
        <p:spPr>
          <a:xfrm>
            <a:off x="1290320" y="5572877"/>
            <a:ext cx="7233920" cy="436881"/>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start</a:t>
            </a:r>
          </a:p>
        </p:txBody>
      </p:sp>
    </p:spTree>
    <p:extLst>
      <p:ext uri="{BB962C8B-B14F-4D97-AF65-F5344CB8AC3E}">
        <p14:creationId xmlns="" xmlns:p14="http://schemas.microsoft.com/office/powerpoint/2010/main" val="1913416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AFE2CE36-1C35-9781-6F91-8DA3E1E36CE2}"/>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097002" y="0"/>
            <a:ext cx="9997995" cy="6858000"/>
          </a:xfrm>
          <a:prstGeom prst="rect">
            <a:avLst/>
          </a:prstGeom>
        </p:spPr>
      </p:pic>
    </p:spTree>
    <p:extLst>
      <p:ext uri="{BB962C8B-B14F-4D97-AF65-F5344CB8AC3E}">
        <p14:creationId xmlns="" xmlns:p14="http://schemas.microsoft.com/office/powerpoint/2010/main" val="1106521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5FF94312-3327-597A-CB52-4A46173E961E}"/>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251805" y="71120"/>
            <a:ext cx="9249989" cy="6858000"/>
          </a:xfrm>
          <a:prstGeom prst="rect">
            <a:avLst/>
          </a:prstGeom>
        </p:spPr>
      </p:pic>
    </p:spTree>
    <p:extLst>
      <p:ext uri="{BB962C8B-B14F-4D97-AF65-F5344CB8AC3E}">
        <p14:creationId xmlns="" xmlns:p14="http://schemas.microsoft.com/office/powerpoint/2010/main" val="4104593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B833C604-011C-32C6-86C0-E8B4383CDD19}"/>
              </a:ext>
            </a:extLst>
          </p:cNvPr>
          <p:cNvSpPr txBox="1"/>
          <p:nvPr/>
        </p:nvSpPr>
        <p:spPr>
          <a:xfrm>
            <a:off x="589280" y="538480"/>
            <a:ext cx="4263155" cy="923330"/>
          </a:xfrm>
          <a:prstGeom prst="rect">
            <a:avLst/>
          </a:prstGeom>
          <a:noFill/>
        </p:spPr>
        <p:txBody>
          <a:bodyPr wrap="none" rtlCol="0">
            <a:spAutoFit/>
          </a:bodyPr>
          <a:lstStyle/>
          <a:p>
            <a:r>
              <a:rPr lang="en-US"/>
              <a:t>API TESTING VIDEO LINK:</a:t>
            </a:r>
            <a:r>
              <a:rPr lang="en-US">
                <a:solidFill>
                  <a:srgbClr val="0070C0"/>
                </a:solidFill>
              </a:rPr>
              <a:t>API testing.mp4</a:t>
            </a:r>
          </a:p>
          <a:p>
            <a:r>
              <a:rPr lang="en-US"/>
              <a:t>DEMO video </a:t>
            </a:r>
            <a:r>
              <a:rPr lang="en-US" err="1"/>
              <a:t>link:</a:t>
            </a:r>
            <a:r>
              <a:rPr lang="en-US" err="1">
                <a:solidFill>
                  <a:srgbClr val="0070C0"/>
                </a:solidFill>
              </a:rPr>
              <a:t>Backend</a:t>
            </a:r>
            <a:r>
              <a:rPr lang="en-US">
                <a:solidFill>
                  <a:srgbClr val="0070C0"/>
                </a:solidFill>
              </a:rPr>
              <a:t> demo.mp4</a:t>
            </a:r>
          </a:p>
          <a:p>
            <a:r>
              <a:rPr lang="en-US" err="1"/>
              <a:t>codeDrive:</a:t>
            </a:r>
            <a:r>
              <a:rPr lang="en-US" err="1">
                <a:solidFill>
                  <a:srgbClr val="0070C0"/>
                </a:solidFill>
              </a:rPr>
              <a:t>code</a:t>
            </a:r>
            <a:endParaRPr lang="en-US">
              <a:solidFill>
                <a:srgbClr val="0070C0"/>
              </a:solidFill>
            </a:endParaRPr>
          </a:p>
        </p:txBody>
      </p:sp>
    </p:spTree>
    <p:extLst>
      <p:ext uri="{BB962C8B-B14F-4D97-AF65-F5344CB8AC3E}">
        <p14:creationId xmlns="" xmlns:p14="http://schemas.microsoft.com/office/powerpoint/2010/main" val="20027476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1512</Words>
  <Application>Microsoft Office PowerPoint</Application>
  <PresentationFormat>Custom</PresentationFormat>
  <Paragraphs>194</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                   AI FAQ Assistant API                        TEAM LEADER  :  R SHANMUGAPRIYA          TEAM MEMBER : 1.V SIVAPRIYA    TEAM MEMBER : 2.M SUBHA                     TEAM MEMBER : 3.M SURIYAKEERTHI       TEAM MEMBER : 4.S SWETHA</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FAQ Assistant API                        TEAM LEADER  :  V HARINI                          TEAM MEMBER : 1.R GOPIKA                        TEAM MEMBER : 2.S DEEPA                                          TEAM MEMBER : 3.S HASEEN JUMANA                                 TEAM MEMBER : 4.P DEEPASHRI</dc:title>
  <dc:creator>Gokul Kumar</dc:creator>
  <cp:lastModifiedBy>janani</cp:lastModifiedBy>
  <cp:revision>45</cp:revision>
  <dcterms:created xsi:type="dcterms:W3CDTF">2026-09-27T04:08:57Z</dcterms:created>
  <dcterms:modified xsi:type="dcterms:W3CDTF">2026-09-30T06:00:44Z</dcterms:modified>
</cp:coreProperties>
</file>